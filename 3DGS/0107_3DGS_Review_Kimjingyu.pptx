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4.png" ContentType="image/png"/>
  <Override PartName="/ppt/media/image3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4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2D4373-F825-4DE0-8E7B-0D6A079E71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Noto Sans CJK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03FAFD-504D-44D3-8B4C-6443932680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E26A11-F16E-4E3C-AB0B-16CC042C98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BB575B-67AE-4E14-8FA6-BF7782AF89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87685B-3455-431A-A315-09BDEE16584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Noto Sans CJK K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A2C462-65B3-442D-8908-CB6DE5BDAD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DE47EC-9D9E-42C8-8DC2-4423CD2607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D904E8-EFA3-4BE9-ADBF-356DBC06B7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3EF9EA-C466-47D6-9B95-026352536D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4BFAEC-7715-47D5-8581-B57BE80ABD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AA1209-A322-4460-88C9-3BACCAE6DE3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15DEAE-7390-48C3-A4C9-BCCA0A4EF77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&lt;날짜/시간&gt;</a:t>
            </a:r>
            <a:endParaRPr b="0" lang="en-US" sz="1200" spc="-1" strike="noStrike">
              <a:latin typeface="Noto Serif CJK KR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Noto Serif CJK KR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Noto Serif CJK KR"/>
              </a:rPr>
              <a:t>&lt;바닥글&gt;</a:t>
            </a:r>
            <a:endParaRPr b="0" lang="en-US" sz="1400" spc="-1" strike="noStrike">
              <a:latin typeface="Noto Serif CJK KR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40632FF-4096-4396-AE86-DA7C2BD2C68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&lt;숫자&gt;</a:t>
            </a:fld>
            <a:endParaRPr b="0" lang="en-US" sz="1200" spc="-1" strike="noStrike">
              <a:latin typeface="Noto Serif CJK KR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제목 텍스트의 서식을 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편집하려면 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Calibri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2</a:t>
            </a:r>
            <a:r>
              <a:rPr b="0" lang="ko-KR" sz="2400" spc="-1" strike="noStrike">
                <a:solidFill>
                  <a:srgbClr val="000000"/>
                </a:solidFill>
                <a:latin typeface="Calibri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3</a:t>
            </a:r>
            <a:r>
              <a:rPr b="0" lang="ko-KR" sz="2000" spc="-1" strike="noStrike">
                <a:solidFill>
                  <a:srgbClr val="000000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hyperlink" Target="https://repo-sam.inria.fr/fungraph/3d-gaussian-splatting/" TargetMode="External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2"/>
          <p:cNvGrpSpPr/>
          <p:nvPr/>
        </p:nvGrpSpPr>
        <p:grpSpPr>
          <a:xfrm>
            <a:off x="-290880" y="9828000"/>
            <a:ext cx="18869400" cy="300600"/>
            <a:chOff x="-290880" y="9828000"/>
            <a:chExt cx="18869400" cy="300600"/>
          </a:xfrm>
        </p:grpSpPr>
        <p:sp>
          <p:nvSpPr>
            <p:cNvPr id="42" name="Freeform 3"/>
            <p:cNvSpPr/>
            <p:nvPr/>
          </p:nvSpPr>
          <p:spPr>
            <a:xfrm>
              <a:off x="-290880" y="10008720"/>
              <a:ext cx="18869400" cy="119520"/>
            </a:xfrm>
            <a:custGeom>
              <a:avLst/>
              <a:gdLst/>
              <a:ah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" name="TextBox 4"/>
            <p:cNvSpPr/>
            <p:nvPr/>
          </p:nvSpPr>
          <p:spPr>
            <a:xfrm>
              <a:off x="-290880" y="9828000"/>
              <a:ext cx="18869400" cy="300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4" name="TextBox 5"/>
          <p:cNvSpPr/>
          <p:nvPr/>
        </p:nvSpPr>
        <p:spPr>
          <a:xfrm>
            <a:off x="4007880" y="3382920"/>
            <a:ext cx="11763000" cy="151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11923"/>
              </a:lnSpc>
              <a:buNone/>
            </a:pPr>
            <a:r>
              <a:rPr b="0" lang="en-US" sz="10370" spc="-103" strike="noStrike">
                <a:solidFill>
                  <a:srgbClr val="191919"/>
                </a:solidFill>
                <a:latin typeface="Glacial Indifference"/>
                <a:ea typeface="Glacial Indifference"/>
              </a:rPr>
              <a:t>Skull </a:t>
            </a:r>
            <a:r>
              <a:rPr b="0" lang="ko-KR" sz="10370" spc="-103" strike="noStrike">
                <a:solidFill>
                  <a:srgbClr val="191919"/>
                </a:solidFill>
                <a:latin typeface="Glacial Indifference"/>
                <a:ea typeface="Glacial Indifference"/>
              </a:rPr>
              <a:t>연구진행</a:t>
            </a:r>
            <a:endParaRPr b="0" lang="en-US" sz="10370" spc="-1" strike="noStrike">
              <a:latin typeface="Noto Sans CJK KR"/>
            </a:endParaRPr>
          </a:p>
        </p:txBody>
      </p:sp>
      <p:sp>
        <p:nvSpPr>
          <p:cNvPr id="45" name="TextBox 6"/>
          <p:cNvSpPr/>
          <p:nvPr/>
        </p:nvSpPr>
        <p:spPr>
          <a:xfrm>
            <a:off x="1028880" y="8720280"/>
            <a:ext cx="297576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640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191919"/>
                </a:solidFill>
                <a:latin typeface="Garet Light"/>
                <a:ea typeface="Garet Light"/>
              </a:rPr>
              <a:t>2025.12.17</a:t>
            </a:r>
            <a:endParaRPr b="0" lang="en-US" sz="2600" spc="-1" strike="noStrike">
              <a:latin typeface="Noto Sans CJK KR"/>
            </a:endParaRPr>
          </a:p>
        </p:txBody>
      </p:sp>
      <p:sp>
        <p:nvSpPr>
          <p:cNvPr id="46" name="TextBox 7"/>
          <p:cNvSpPr/>
          <p:nvPr/>
        </p:nvSpPr>
        <p:spPr>
          <a:xfrm>
            <a:off x="15771240" y="8710920"/>
            <a:ext cx="148752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4476"/>
              </a:lnSpc>
              <a:buNone/>
              <a:tabLst>
                <a:tab algn="l" pos="0"/>
              </a:tabLst>
            </a:pPr>
            <a:r>
              <a:rPr b="0" lang="ko-KR" sz="3190" spc="-1" strike="noStrike">
                <a:solidFill>
                  <a:srgbClr val="191919"/>
                </a:solidFill>
                <a:latin typeface="윤고딕"/>
                <a:ea typeface="윤고딕"/>
              </a:rPr>
              <a:t>김진규</a:t>
            </a:r>
            <a:endParaRPr b="0" lang="en-US" sz="319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2"/>
          <p:cNvGrpSpPr/>
          <p:nvPr/>
        </p:nvGrpSpPr>
        <p:grpSpPr>
          <a:xfrm>
            <a:off x="-290880" y="9828000"/>
            <a:ext cx="18869400" cy="300600"/>
            <a:chOff x="-290880" y="9828000"/>
            <a:chExt cx="18869400" cy="300600"/>
          </a:xfrm>
        </p:grpSpPr>
        <p:sp>
          <p:nvSpPr>
            <p:cNvPr id="48" name="Freeform 3"/>
            <p:cNvSpPr/>
            <p:nvPr/>
          </p:nvSpPr>
          <p:spPr>
            <a:xfrm>
              <a:off x="-290880" y="10008720"/>
              <a:ext cx="18869400" cy="119520"/>
            </a:xfrm>
            <a:custGeom>
              <a:avLst/>
              <a:gdLst/>
              <a:ah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 w="19050">
              <a:solidFill>
                <a:srgbClr val="19191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" name="TextBox 4"/>
            <p:cNvSpPr/>
            <p:nvPr/>
          </p:nvSpPr>
          <p:spPr>
            <a:xfrm>
              <a:off x="-290880" y="9828000"/>
              <a:ext cx="18869400" cy="300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0" name="AutoShape 5"/>
          <p:cNvSpPr/>
          <p:nvPr/>
        </p:nvSpPr>
        <p:spPr>
          <a:xfrm>
            <a:off x="0" y="828360"/>
            <a:ext cx="3276360" cy="360"/>
          </a:xfrm>
          <a:prstGeom prst="line">
            <a:avLst/>
          </a:prstGeom>
          <a:ln w="38100">
            <a:solidFill>
              <a:srgbClr val="19191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Freeform 6"/>
          <p:cNvSpPr/>
          <p:nvPr/>
        </p:nvSpPr>
        <p:spPr>
          <a:xfrm>
            <a:off x="4340880" y="3389760"/>
            <a:ext cx="11345040" cy="2722680"/>
          </a:xfrm>
          <a:custGeom>
            <a:avLst/>
            <a:gdLst/>
            <a:ahLst/>
            <a:rect l="l" t="t" r="r" b="b"/>
            <a:pathLst>
              <a:path w="11345322" h="2722877">
                <a:moveTo>
                  <a:pt x="0" y="0"/>
                </a:moveTo>
                <a:lnTo>
                  <a:pt x="11345323" y="0"/>
                </a:lnTo>
                <a:lnTo>
                  <a:pt x="11345323" y="2722877"/>
                </a:lnTo>
                <a:lnTo>
                  <a:pt x="0" y="272287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Freeform 7"/>
          <p:cNvSpPr/>
          <p:nvPr/>
        </p:nvSpPr>
        <p:spPr>
          <a:xfrm>
            <a:off x="4556520" y="6430680"/>
            <a:ext cx="10913760" cy="3355560"/>
          </a:xfrm>
          <a:custGeom>
            <a:avLst/>
            <a:gdLst/>
            <a:ahLst/>
            <a:rect l="l" t="t" r="r" b="b"/>
            <a:pathLst>
              <a:path w="10914020" h="3356061">
                <a:moveTo>
                  <a:pt x="0" y="0"/>
                </a:moveTo>
                <a:lnTo>
                  <a:pt x="10914021" y="0"/>
                </a:lnTo>
                <a:lnTo>
                  <a:pt x="10914021" y="3356062"/>
                </a:lnTo>
                <a:lnTo>
                  <a:pt x="0" y="335606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Freeform 8"/>
          <p:cNvSpPr/>
          <p:nvPr/>
        </p:nvSpPr>
        <p:spPr>
          <a:xfrm>
            <a:off x="5325480" y="235440"/>
            <a:ext cx="9375480" cy="3082320"/>
          </a:xfrm>
          <a:custGeom>
            <a:avLst/>
            <a:gdLst/>
            <a:ahLst/>
            <a:rect l="l" t="t" r="r" b="b"/>
            <a:pathLst>
              <a:path w="9375889" h="3082775">
                <a:moveTo>
                  <a:pt x="0" y="0"/>
                </a:moveTo>
                <a:lnTo>
                  <a:pt x="9375889" y="0"/>
                </a:lnTo>
                <a:lnTo>
                  <a:pt x="9375889" y="3082775"/>
                </a:lnTo>
                <a:lnTo>
                  <a:pt x="0" y="30827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Box 9"/>
          <p:cNvSpPr/>
          <p:nvPr/>
        </p:nvSpPr>
        <p:spPr>
          <a:xfrm>
            <a:off x="2700000" y="771480"/>
            <a:ext cx="106416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4198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NeRF</a:t>
            </a:r>
            <a:endParaRPr b="0" lang="en-US" sz="30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2"/>
          <p:cNvGrpSpPr/>
          <p:nvPr/>
        </p:nvGrpSpPr>
        <p:grpSpPr>
          <a:xfrm>
            <a:off x="-290880" y="9828000"/>
            <a:ext cx="18869400" cy="300600"/>
            <a:chOff x="-290880" y="9828000"/>
            <a:chExt cx="18869400" cy="300600"/>
          </a:xfrm>
        </p:grpSpPr>
        <p:sp>
          <p:nvSpPr>
            <p:cNvPr id="56" name="Freeform 3"/>
            <p:cNvSpPr/>
            <p:nvPr/>
          </p:nvSpPr>
          <p:spPr>
            <a:xfrm>
              <a:off x="-290880" y="10008720"/>
              <a:ext cx="18869400" cy="119520"/>
            </a:xfrm>
            <a:custGeom>
              <a:avLst/>
              <a:gdLst/>
              <a:ah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 w="19050">
              <a:solidFill>
                <a:srgbClr val="19191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" name="TextBox 4"/>
            <p:cNvSpPr/>
            <p:nvPr/>
          </p:nvSpPr>
          <p:spPr>
            <a:xfrm>
              <a:off x="-290880" y="9828000"/>
              <a:ext cx="18869400" cy="300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8" name="AutoShape 5"/>
          <p:cNvSpPr/>
          <p:nvPr/>
        </p:nvSpPr>
        <p:spPr>
          <a:xfrm>
            <a:off x="0" y="828360"/>
            <a:ext cx="3276360" cy="360"/>
          </a:xfrm>
          <a:prstGeom prst="line">
            <a:avLst/>
          </a:prstGeom>
          <a:ln w="38100">
            <a:solidFill>
              <a:srgbClr val="19191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Freeform 6"/>
          <p:cNvSpPr/>
          <p:nvPr/>
        </p:nvSpPr>
        <p:spPr>
          <a:xfrm>
            <a:off x="10022040" y="1028880"/>
            <a:ext cx="8077680" cy="3564000"/>
          </a:xfrm>
          <a:custGeom>
            <a:avLst/>
            <a:gdLst/>
            <a:ahLst/>
            <a:rect l="l" t="t" r="r" b="b"/>
            <a:pathLst>
              <a:path w="8078079" h="3564452">
                <a:moveTo>
                  <a:pt x="0" y="0"/>
                </a:moveTo>
                <a:lnTo>
                  <a:pt x="8078078" y="0"/>
                </a:lnTo>
                <a:lnTo>
                  <a:pt x="8078078" y="3564452"/>
                </a:lnTo>
                <a:lnTo>
                  <a:pt x="0" y="35644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Box 7"/>
          <p:cNvSpPr/>
          <p:nvPr/>
        </p:nvSpPr>
        <p:spPr>
          <a:xfrm>
            <a:off x="1028880" y="971640"/>
            <a:ext cx="16248960" cy="335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82840" indent="-291600">
              <a:lnSpc>
                <a:spcPts val="3779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NeRF </a:t>
            </a:r>
            <a:r>
              <a:rPr b="0" lang="ko-KR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계열의 문제점</a:t>
            </a:r>
            <a:endParaRPr b="0" lang="en-US" sz="2700" spc="-1" strike="noStrike">
              <a:latin typeface="Noto Sans CJK KR"/>
            </a:endParaRPr>
          </a:p>
          <a:p>
            <a:pPr lvl="2" marL="1165680" indent="-388440">
              <a:lnSpc>
                <a:spcPts val="3779"/>
              </a:lnSpc>
              <a:buClr>
                <a:srgbClr val="000000"/>
              </a:buClr>
              <a:buFont typeface="Arial"/>
              <a:buChar char="⚬"/>
            </a:pPr>
            <a:r>
              <a:rPr b="0" lang="ko-KR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연속적인 </a:t>
            </a:r>
            <a:r>
              <a:rPr b="0" lang="en-US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Radiance Field </a:t>
            </a:r>
            <a:r>
              <a:rPr b="0" lang="ko-KR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표현 → 품질은 높음</a:t>
            </a:r>
            <a:endParaRPr b="0" lang="en-US" sz="2700" spc="-1" strike="noStrike">
              <a:latin typeface="Noto Sans CJK KR"/>
            </a:endParaRPr>
          </a:p>
          <a:p>
            <a:pPr lvl="2" marL="1165680" indent="-388440">
              <a:lnSpc>
                <a:spcPts val="3779"/>
              </a:lnSpc>
              <a:buClr>
                <a:srgbClr val="000000"/>
              </a:buClr>
              <a:buFont typeface="Arial"/>
              <a:buChar char="⚬"/>
            </a:pPr>
            <a:r>
              <a:rPr b="0" lang="ko-KR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렌더링 속도 느림</a:t>
            </a:r>
            <a:endParaRPr b="0" lang="en-US" sz="2700" spc="-1" strike="noStrike">
              <a:latin typeface="Noto Sans CJK KR"/>
            </a:endParaRPr>
          </a:p>
          <a:p>
            <a:pPr lvl="2" marL="1165680" indent="-388440">
              <a:lnSpc>
                <a:spcPts val="3779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1080p </a:t>
            </a:r>
            <a:r>
              <a:rPr b="0" lang="ko-KR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실시간 불가능</a:t>
            </a:r>
            <a:endParaRPr b="0" lang="en-US" sz="2700" spc="-1" strike="noStrike">
              <a:latin typeface="Noto Sans CJK KR"/>
            </a:endParaRPr>
          </a:p>
          <a:p>
            <a:pPr lvl="2" marL="1165680" indent="-388440">
              <a:lnSpc>
                <a:spcPts val="3779"/>
              </a:lnSpc>
              <a:buClr>
                <a:srgbClr val="000000"/>
              </a:buClr>
              <a:buFont typeface="Arial"/>
              <a:buChar char="⚬"/>
            </a:pPr>
            <a:r>
              <a:rPr b="0" lang="ko-KR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의료</a:t>
            </a:r>
            <a:r>
              <a:rPr b="0" lang="en-US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/</a:t>
            </a:r>
            <a:r>
              <a:rPr b="0" lang="ko-KR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산업 환경에서 반복 실험 부담 큼</a:t>
            </a:r>
            <a:endParaRPr b="0" lang="en-US" sz="2700" spc="-1" strike="noStrike">
              <a:latin typeface="Noto Sans CJK KR"/>
            </a:endParaRPr>
          </a:p>
          <a:p>
            <a:pPr lvl="1" marL="582840" indent="-291600">
              <a:lnSpc>
                <a:spcPts val="3779"/>
              </a:lnSpc>
              <a:buClr>
                <a:srgbClr val="000000"/>
              </a:buClr>
              <a:buFont typeface="Arial"/>
              <a:buChar char="•"/>
            </a:pPr>
            <a:r>
              <a:rPr b="0" lang="ko-KR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핵심 질문</a:t>
            </a:r>
            <a:endParaRPr b="0" lang="en-US" sz="2700" spc="-1" strike="noStrike">
              <a:latin typeface="Noto Sans CJK KR"/>
            </a:endParaRPr>
          </a:p>
          <a:p>
            <a:pPr lvl="2" marL="1165680" indent="-388440">
              <a:lnSpc>
                <a:spcPts val="3779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“</a:t>
            </a:r>
            <a:r>
              <a:rPr b="0" lang="ko-KR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신경망 없이도</a:t>
            </a:r>
            <a:r>
              <a:rPr b="0" lang="en-US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,  </a:t>
            </a:r>
            <a:r>
              <a:rPr b="0" lang="ko-KR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고품질 </a:t>
            </a:r>
            <a:r>
              <a:rPr b="0" lang="en-US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+ </a:t>
            </a:r>
            <a:r>
              <a:rPr b="0" lang="ko-KR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실시간 뷰 합성이 가능할까</a:t>
            </a:r>
            <a:r>
              <a:rPr b="0" lang="en-US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?”</a:t>
            </a:r>
            <a:endParaRPr b="0" lang="en-US" sz="2700" spc="-1" strike="noStrike">
              <a:latin typeface="Noto Sans CJK KR"/>
            </a:endParaRPr>
          </a:p>
        </p:txBody>
      </p:sp>
      <p:sp>
        <p:nvSpPr>
          <p:cNvPr id="61" name="TextBox 8"/>
          <p:cNvSpPr/>
          <p:nvPr/>
        </p:nvSpPr>
        <p:spPr>
          <a:xfrm>
            <a:off x="1028880" y="4284360"/>
            <a:ext cx="1623024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82840" indent="-291600">
              <a:lnSpc>
                <a:spcPts val="3779"/>
              </a:lnSpc>
              <a:buClr>
                <a:srgbClr val="000000"/>
              </a:buClr>
              <a:buFont typeface="Arial"/>
              <a:buChar char="•"/>
            </a:pPr>
            <a:r>
              <a:rPr b="0" lang="ko-KR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핵심 컨셉</a:t>
            </a:r>
            <a:endParaRPr b="0" lang="en-US" sz="2700" spc="-1" strike="noStrike">
              <a:latin typeface="Noto Sans CJK KR"/>
            </a:endParaRPr>
          </a:p>
          <a:p>
            <a:pPr lvl="2" marL="1166040" indent="-388800">
              <a:lnSpc>
                <a:spcPts val="3779"/>
              </a:lnSpc>
              <a:buClr>
                <a:srgbClr val="000000"/>
              </a:buClr>
              <a:buFont typeface="Arial"/>
              <a:buChar char="⚬"/>
            </a:pPr>
            <a:r>
              <a:rPr b="0" lang="ko-KR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장면을 신경망으로 표현하지 말고</a:t>
            </a:r>
            <a:r>
              <a:rPr b="0" lang="en-US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, </a:t>
            </a:r>
            <a:r>
              <a:rPr b="0" lang="ko-KR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수많은 </a:t>
            </a:r>
            <a:r>
              <a:rPr b="0" lang="en-US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3D Gaussian primitive</a:t>
            </a:r>
            <a:r>
              <a:rPr b="0" lang="ko-KR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의 집합으로 직접 표현하자</a:t>
            </a:r>
            <a:endParaRPr b="0" lang="en-US" sz="2700" spc="-1" strike="noStrike">
              <a:latin typeface="Noto Sans CJK KR"/>
            </a:endParaRPr>
          </a:p>
          <a:p>
            <a:pPr lvl="2" marL="1166040" indent="-388800">
              <a:lnSpc>
                <a:spcPts val="3779"/>
              </a:lnSpc>
              <a:buClr>
                <a:srgbClr val="000000"/>
              </a:buClr>
              <a:buFont typeface="Arial"/>
              <a:buChar char="⚬"/>
            </a:pPr>
            <a:r>
              <a:rPr b="0" lang="ko-KR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하나의 </a:t>
            </a:r>
            <a:r>
              <a:rPr b="0" lang="en-US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Gaussian = </a:t>
            </a:r>
            <a:r>
              <a:rPr b="0" lang="ko-KR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장면의 아주 작은 부분이 </a:t>
            </a:r>
            <a:r>
              <a:rPr b="0" lang="en-US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Gaussian</a:t>
            </a:r>
            <a:r>
              <a:rPr b="0" lang="ko-KR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들을 최적화해서 전체 장면을 표현</a:t>
            </a:r>
            <a:endParaRPr b="0" lang="en-US" sz="2700" spc="-1" strike="noStrike">
              <a:latin typeface="Noto Sans CJK KR"/>
            </a:endParaRPr>
          </a:p>
          <a:p>
            <a:pPr lvl="2" marL="1166040" indent="-388800">
              <a:lnSpc>
                <a:spcPts val="3779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Implicit → Explicit representation </a:t>
            </a:r>
            <a:r>
              <a:rPr b="0" lang="ko-KR" sz="2700" spc="-1" strike="noStrike">
                <a:solidFill>
                  <a:srgbClr val="000000"/>
                </a:solidFill>
                <a:latin typeface="RoxboroughCF"/>
                <a:ea typeface="RoxboroughCF"/>
              </a:rPr>
              <a:t>전환</a:t>
            </a:r>
            <a:endParaRPr b="0" lang="en-US" sz="2700" spc="-1" strike="noStrike">
              <a:latin typeface="Noto Sans CJK KR"/>
            </a:endParaRPr>
          </a:p>
        </p:txBody>
      </p:sp>
      <p:pic>
        <p:nvPicPr>
          <p:cNvPr id="62" name="" descr=""/>
          <p:cNvPicPr/>
          <p:nvPr/>
        </p:nvPicPr>
        <p:blipFill>
          <a:blip r:embed="rId2"/>
          <a:stretch/>
        </p:blipFill>
        <p:spPr>
          <a:xfrm>
            <a:off x="1980000" y="6480000"/>
            <a:ext cx="7560000" cy="3206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2"/>
          <p:cNvGrpSpPr/>
          <p:nvPr/>
        </p:nvGrpSpPr>
        <p:grpSpPr>
          <a:xfrm>
            <a:off x="-290880" y="9828000"/>
            <a:ext cx="18869400" cy="300600"/>
            <a:chOff x="-290880" y="9828000"/>
            <a:chExt cx="18869400" cy="300600"/>
          </a:xfrm>
        </p:grpSpPr>
        <p:sp>
          <p:nvSpPr>
            <p:cNvPr id="64" name="Freeform 3"/>
            <p:cNvSpPr/>
            <p:nvPr/>
          </p:nvSpPr>
          <p:spPr>
            <a:xfrm>
              <a:off x="-290880" y="10008720"/>
              <a:ext cx="18869400" cy="119520"/>
            </a:xfrm>
            <a:custGeom>
              <a:avLst/>
              <a:gdLst/>
              <a:ah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 w="19050">
              <a:solidFill>
                <a:srgbClr val="19191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" name="TextBox 4"/>
            <p:cNvSpPr/>
            <p:nvPr/>
          </p:nvSpPr>
          <p:spPr>
            <a:xfrm>
              <a:off x="-290880" y="9828000"/>
              <a:ext cx="18869400" cy="300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6" name="AutoShape 5"/>
          <p:cNvSpPr/>
          <p:nvPr/>
        </p:nvSpPr>
        <p:spPr>
          <a:xfrm>
            <a:off x="0" y="828360"/>
            <a:ext cx="3276360" cy="360"/>
          </a:xfrm>
          <a:prstGeom prst="line">
            <a:avLst/>
          </a:prstGeom>
          <a:ln w="38100">
            <a:solidFill>
              <a:srgbClr val="19191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Freeform 6"/>
          <p:cNvSpPr/>
          <p:nvPr/>
        </p:nvSpPr>
        <p:spPr>
          <a:xfrm>
            <a:off x="3705120" y="1018080"/>
            <a:ext cx="11251080" cy="4921920"/>
          </a:xfrm>
          <a:custGeom>
            <a:avLst/>
            <a:gdLst/>
            <a:ahLst/>
            <a:rect l="l" t="t" r="r" b="b"/>
            <a:pathLst>
              <a:path w="14870431" h="6288068">
                <a:moveTo>
                  <a:pt x="0" y="0"/>
                </a:moveTo>
                <a:lnTo>
                  <a:pt x="14870430" y="0"/>
                </a:lnTo>
                <a:lnTo>
                  <a:pt x="14870430" y="6288068"/>
                </a:lnTo>
                <a:lnTo>
                  <a:pt x="0" y="628806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Box 7"/>
          <p:cNvSpPr/>
          <p:nvPr/>
        </p:nvSpPr>
        <p:spPr>
          <a:xfrm>
            <a:off x="1381320" y="6300000"/>
            <a:ext cx="15898680" cy="14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92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RoxboroughCF"/>
                <a:ea typeface="RoxboroughCF"/>
              </a:rPr>
              <a:t>NeRF </a:t>
            </a:r>
            <a:r>
              <a:rPr b="0" lang="ko-KR" sz="2800" spc="-1" strike="noStrike">
                <a:solidFill>
                  <a:srgbClr val="000000"/>
                </a:solidFill>
                <a:latin typeface="RoxboroughCF"/>
                <a:ea typeface="RoxboroughCF"/>
              </a:rPr>
              <a:t>계열은 고품질 </a:t>
            </a:r>
            <a:r>
              <a:rPr b="0" lang="en-US" sz="2800" spc="-1" strike="noStrike">
                <a:solidFill>
                  <a:srgbClr val="000000"/>
                </a:solidFill>
                <a:latin typeface="RoxboroughCF"/>
                <a:ea typeface="RoxboroughCF"/>
              </a:rPr>
              <a:t>novel-view synthesis</a:t>
            </a:r>
            <a:r>
              <a:rPr b="0" lang="ko-KR" sz="2800" spc="-1" strike="noStrike">
                <a:solidFill>
                  <a:srgbClr val="000000"/>
                </a:solidFill>
                <a:latin typeface="RoxboroughCF"/>
                <a:ea typeface="RoxboroughCF"/>
              </a:rPr>
              <a:t>가 가능하지만</a:t>
            </a:r>
            <a:r>
              <a:rPr b="0" lang="en-US" sz="2800" spc="-1" strike="noStrike">
                <a:solidFill>
                  <a:srgbClr val="000000"/>
                </a:solidFill>
                <a:latin typeface="RoxboroughCF"/>
                <a:ea typeface="RoxboroughCF"/>
              </a:rPr>
              <a:t>, </a:t>
            </a:r>
            <a:r>
              <a:rPr b="0" lang="ko-KR" sz="2800" spc="-1" strike="noStrike">
                <a:solidFill>
                  <a:srgbClr val="000000"/>
                </a:solidFill>
                <a:latin typeface="RoxboroughCF"/>
                <a:ea typeface="RoxboroughCF"/>
              </a:rPr>
              <a:t>학습</a:t>
            </a:r>
            <a:r>
              <a:rPr b="0" lang="en-US" sz="2800" spc="-1" strike="noStrike">
                <a:solidFill>
                  <a:srgbClr val="000000"/>
                </a:solidFill>
                <a:latin typeface="RoxboroughCF"/>
                <a:ea typeface="RoxboroughCF"/>
              </a:rPr>
              <a:t>/</a:t>
            </a:r>
            <a:r>
              <a:rPr b="0" lang="ko-KR" sz="2800" spc="-1" strike="noStrike">
                <a:solidFill>
                  <a:srgbClr val="000000"/>
                </a:solidFill>
                <a:latin typeface="RoxboroughCF"/>
                <a:ea typeface="RoxboroughCF"/>
              </a:rPr>
              <a:t>렌더링 비용이 크고 실시간</a:t>
            </a:r>
            <a:r>
              <a:rPr b="0" lang="en-US" sz="2800" spc="-1" strike="noStrike">
                <a:solidFill>
                  <a:srgbClr val="000000"/>
                </a:solidFill>
                <a:latin typeface="RoxboroughCF"/>
                <a:ea typeface="RoxboroughCF"/>
              </a:rPr>
              <a:t>(1080p 30fps+)</a:t>
            </a:r>
            <a:r>
              <a:rPr b="0" lang="ko-KR" sz="28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이 어렵다는 문제가 있었다</a:t>
            </a:r>
            <a:r>
              <a:rPr b="0" lang="en-US" sz="2800" spc="-1" strike="noStrike">
                <a:solidFill>
                  <a:srgbClr val="000000"/>
                </a:solidFill>
                <a:latin typeface="RoxboroughCF"/>
                <a:ea typeface="RoxboroughCF"/>
              </a:rPr>
              <a:t>. 3DGS</a:t>
            </a:r>
            <a:r>
              <a:rPr b="0" lang="ko-KR" sz="2800" spc="-1" strike="noStrike">
                <a:solidFill>
                  <a:srgbClr val="000000"/>
                </a:solidFill>
                <a:latin typeface="RoxboroughCF"/>
                <a:ea typeface="RoxboroughCF"/>
              </a:rPr>
              <a:t>는 고품질 </a:t>
            </a:r>
            <a:r>
              <a:rPr b="0" lang="en-US" sz="2800" spc="-1" strike="noStrike">
                <a:solidFill>
                  <a:srgbClr val="000000"/>
                </a:solidFill>
                <a:latin typeface="RoxboroughCF"/>
                <a:ea typeface="RoxboroughCF"/>
              </a:rPr>
              <a:t>+ </a:t>
            </a:r>
            <a:r>
              <a:rPr b="0" lang="ko-KR" sz="2800" spc="-1" strike="noStrike">
                <a:solidFill>
                  <a:srgbClr val="000000"/>
                </a:solidFill>
                <a:latin typeface="RoxboroughCF"/>
                <a:ea typeface="RoxboroughCF"/>
              </a:rPr>
              <a:t>실시간 렌더링을 목표로</a:t>
            </a:r>
            <a:r>
              <a:rPr b="0" lang="en-US" sz="2800" spc="-1" strike="noStrike">
                <a:solidFill>
                  <a:srgbClr val="000000"/>
                </a:solidFill>
                <a:latin typeface="RoxboroughCF"/>
                <a:ea typeface="RoxboroughCF"/>
              </a:rPr>
              <a:t>, </a:t>
            </a:r>
            <a:r>
              <a:rPr b="0" lang="ko-KR" sz="2800" spc="-1" strike="noStrike">
                <a:solidFill>
                  <a:srgbClr val="000000"/>
                </a:solidFill>
                <a:latin typeface="RoxboroughCF"/>
                <a:ea typeface="RoxboroughCF"/>
              </a:rPr>
              <a:t>신경망 대신 명시적</a:t>
            </a:r>
            <a:r>
              <a:rPr b="0" lang="en-US" sz="2800" spc="-1" strike="noStrike">
                <a:solidFill>
                  <a:srgbClr val="000000"/>
                </a:solidFill>
                <a:latin typeface="RoxboroughCF"/>
                <a:ea typeface="RoxboroughCF"/>
              </a:rPr>
              <a:t>(explicit) </a:t>
            </a:r>
            <a:r>
              <a:rPr b="0" lang="ko-KR" sz="2800" spc="-1" strike="noStrike">
                <a:solidFill>
                  <a:srgbClr val="000000"/>
                </a:solidFill>
                <a:latin typeface="RoxboroughCF"/>
                <a:ea typeface="RoxboroughCF"/>
              </a:rPr>
              <a:t>표현으로 장면을 최적화한다</a:t>
            </a:r>
            <a:r>
              <a:rPr b="0" lang="en-US" sz="2800" spc="-1" strike="noStrike">
                <a:solidFill>
                  <a:srgbClr val="000000"/>
                </a:solidFill>
                <a:latin typeface="RoxboroughCF"/>
                <a:ea typeface="RoxboroughCF"/>
              </a:rPr>
              <a:t>.</a:t>
            </a:r>
            <a:endParaRPr b="0" lang="en-US" sz="2800" spc="-1" strike="noStrike">
              <a:latin typeface="Noto Sans CJK KR"/>
            </a:endParaRPr>
          </a:p>
        </p:txBody>
      </p:sp>
      <p:sp>
        <p:nvSpPr>
          <p:cNvPr id="69" name="TextBox 1"/>
          <p:cNvSpPr/>
          <p:nvPr/>
        </p:nvSpPr>
        <p:spPr>
          <a:xfrm>
            <a:off x="2284920" y="7933320"/>
            <a:ext cx="1409112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4198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NeRF: </a:t>
            </a:r>
            <a:r>
              <a:rPr b="0" lang="ko-KR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아무 구조 정보 없이 네트워크부터 학습 </a:t>
            </a: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, </a:t>
            </a:r>
            <a:r>
              <a:rPr b="0" lang="ko-KR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다른 </a:t>
            </a: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View </a:t>
            </a:r>
            <a:r>
              <a:rPr b="0" lang="ko-KR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생성</a:t>
            </a:r>
            <a:endParaRPr b="0" lang="en-US" sz="3000" spc="-1" strike="noStrike">
              <a:latin typeface="Noto Sans CJK KR"/>
            </a:endParaRPr>
          </a:p>
          <a:p>
            <a:pPr algn="ctr">
              <a:lnSpc>
                <a:spcPts val="4198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3DGS: </a:t>
            </a:r>
            <a:r>
              <a:rPr b="0" lang="ko-KR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기하 정보를 먼저 쓰고</a:t>
            </a: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, </a:t>
            </a:r>
            <a:r>
              <a:rPr b="0" lang="ko-KR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표현을 최적화 </a:t>
            </a: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, 3D </a:t>
            </a:r>
            <a:r>
              <a:rPr b="0" lang="ko-KR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생성</a:t>
            </a:r>
            <a:endParaRPr b="0" lang="en-US" sz="30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2"/>
          <p:cNvGrpSpPr/>
          <p:nvPr/>
        </p:nvGrpSpPr>
        <p:grpSpPr>
          <a:xfrm>
            <a:off x="-290880" y="9828000"/>
            <a:ext cx="18869400" cy="300600"/>
            <a:chOff x="-290880" y="9828000"/>
            <a:chExt cx="18869400" cy="300600"/>
          </a:xfrm>
        </p:grpSpPr>
        <p:sp>
          <p:nvSpPr>
            <p:cNvPr id="71" name="Freeform 3"/>
            <p:cNvSpPr/>
            <p:nvPr/>
          </p:nvSpPr>
          <p:spPr>
            <a:xfrm>
              <a:off x="-290880" y="10008720"/>
              <a:ext cx="18869400" cy="119520"/>
            </a:xfrm>
            <a:custGeom>
              <a:avLst/>
              <a:gdLst/>
              <a:ah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 w="19050">
              <a:solidFill>
                <a:srgbClr val="19191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" name="TextBox 4"/>
            <p:cNvSpPr/>
            <p:nvPr/>
          </p:nvSpPr>
          <p:spPr>
            <a:xfrm>
              <a:off x="-290880" y="9828000"/>
              <a:ext cx="18869400" cy="300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3" name="AutoShape 5"/>
          <p:cNvSpPr/>
          <p:nvPr/>
        </p:nvSpPr>
        <p:spPr>
          <a:xfrm>
            <a:off x="0" y="828360"/>
            <a:ext cx="3276360" cy="360"/>
          </a:xfrm>
          <a:prstGeom prst="line">
            <a:avLst/>
          </a:prstGeom>
          <a:ln w="38100">
            <a:solidFill>
              <a:srgbClr val="19191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Freeform 6"/>
          <p:cNvSpPr/>
          <p:nvPr/>
        </p:nvSpPr>
        <p:spPr>
          <a:xfrm>
            <a:off x="7790040" y="4714560"/>
            <a:ext cx="10377720" cy="4728600"/>
          </a:xfrm>
          <a:custGeom>
            <a:avLst/>
            <a:gdLst/>
            <a:ahLst/>
            <a:rect l="l" t="t" r="r" b="b"/>
            <a:pathLst>
              <a:path w="10378089" h="4729087">
                <a:moveTo>
                  <a:pt x="0" y="0"/>
                </a:moveTo>
                <a:lnTo>
                  <a:pt x="10378090" y="0"/>
                </a:lnTo>
                <a:lnTo>
                  <a:pt x="10378090" y="4729088"/>
                </a:lnTo>
                <a:lnTo>
                  <a:pt x="0" y="472908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Box 7"/>
          <p:cNvSpPr/>
          <p:nvPr/>
        </p:nvSpPr>
        <p:spPr>
          <a:xfrm>
            <a:off x="-360000" y="771480"/>
            <a:ext cx="554904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4198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Gaussian</a:t>
            </a:r>
            <a:r>
              <a:rPr b="0" lang="ko-KR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이란 무엇인가</a:t>
            </a:r>
            <a:endParaRPr b="0" lang="en-US" sz="3000" spc="-1" strike="noStrike">
              <a:latin typeface="Noto Sans CJK KR"/>
            </a:endParaRPr>
          </a:p>
        </p:txBody>
      </p:sp>
      <p:sp>
        <p:nvSpPr>
          <p:cNvPr id="76" name="TextBox 8"/>
          <p:cNvSpPr/>
          <p:nvPr/>
        </p:nvSpPr>
        <p:spPr>
          <a:xfrm>
            <a:off x="1028880" y="1312560"/>
            <a:ext cx="8911800" cy="8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359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Gaussian</a:t>
            </a:r>
            <a:r>
              <a:rPr b="0" lang="ko-KR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은 “어떤 값이 중심을 기준으로 가장 크고</a:t>
            </a:r>
            <a:r>
              <a:rPr b="0" lang="en-US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, </a:t>
            </a:r>
            <a:r>
              <a:rPr b="0" lang="ko-KR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거리가 멀어질수록 부드럽게 줄어드는 분포”를 수학적으로 표현한 함수다</a:t>
            </a:r>
            <a:r>
              <a:rPr b="0" lang="en-US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.</a:t>
            </a:r>
            <a:endParaRPr b="0" lang="en-US" sz="2400" spc="-1" strike="noStrike">
              <a:latin typeface="Noto Sans CJK KR"/>
            </a:endParaRPr>
          </a:p>
        </p:txBody>
      </p:sp>
      <p:sp>
        <p:nvSpPr>
          <p:cNvPr id="77" name="TextBox 9"/>
          <p:cNvSpPr/>
          <p:nvPr/>
        </p:nvSpPr>
        <p:spPr>
          <a:xfrm>
            <a:off x="823680" y="2173320"/>
            <a:ext cx="6966000" cy="51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18040" indent="-259200">
              <a:lnSpc>
                <a:spcPts val="3359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3D Gaussian</a:t>
            </a:r>
            <a:r>
              <a:rPr b="0" lang="ko-KR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의 핵심 파라미터</a:t>
            </a:r>
            <a:endParaRPr b="0" lang="en-US" sz="2400" spc="-1" strike="noStrike">
              <a:latin typeface="Noto Sans CJK KR"/>
            </a:endParaRPr>
          </a:p>
          <a:p>
            <a:pPr lvl="2" marL="1036440" indent="-345600">
              <a:lnSpc>
                <a:spcPts val="3359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1) </a:t>
            </a:r>
            <a:r>
              <a:rPr b="0" lang="ko-KR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중심 위치 </a:t>
            </a:r>
            <a:r>
              <a:rPr b="0" lang="en-US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(mean, μ)</a:t>
            </a:r>
            <a:endParaRPr b="0" lang="en-US" sz="2400" spc="-1" strike="noStrike">
              <a:latin typeface="Noto Sans CJK KR"/>
            </a:endParaRPr>
          </a:p>
          <a:p>
            <a:pPr lvl="3" marL="1554480" indent="-388800">
              <a:lnSpc>
                <a:spcPts val="3359"/>
              </a:lnSpc>
              <a:buClr>
                <a:srgbClr val="000000"/>
              </a:buClr>
              <a:buFont typeface="Arial"/>
              <a:buChar char="￭"/>
            </a:pPr>
            <a:r>
              <a:rPr b="0" lang="en-US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Gaussian</a:t>
            </a:r>
            <a:r>
              <a:rPr b="0" lang="ko-KR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의 중심 좌표</a:t>
            </a:r>
            <a:endParaRPr b="0" lang="en-US" sz="2400" spc="-1" strike="noStrike">
              <a:latin typeface="Noto Sans CJK KR"/>
            </a:endParaRPr>
          </a:p>
          <a:p>
            <a:pPr lvl="3" marL="1554480" indent="-388800">
              <a:lnSpc>
                <a:spcPts val="3359"/>
              </a:lnSpc>
              <a:buClr>
                <a:srgbClr val="000000"/>
              </a:buClr>
              <a:buFont typeface="Arial"/>
              <a:buChar char="￭"/>
            </a:pPr>
            <a:r>
              <a:rPr b="0" lang="en-US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“</a:t>
            </a:r>
            <a:r>
              <a:rPr b="0" lang="ko-KR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이 </a:t>
            </a:r>
            <a:r>
              <a:rPr b="0" lang="en-US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Gaussian</a:t>
            </a:r>
            <a:r>
              <a:rPr b="0" lang="ko-KR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이 공간 어디에 있는가”</a:t>
            </a:r>
            <a:endParaRPr b="0" lang="en-US" sz="2400" spc="-1" strike="noStrike">
              <a:latin typeface="Noto Sans CJK KR"/>
            </a:endParaRPr>
          </a:p>
          <a:p>
            <a:pPr lvl="2" marL="1036440" indent="-345600">
              <a:lnSpc>
                <a:spcPts val="3359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2) </a:t>
            </a:r>
            <a:r>
              <a:rPr b="0" lang="ko-KR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공분산 행렬 </a:t>
            </a:r>
            <a:r>
              <a:rPr b="0" lang="en-US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(Σ)</a:t>
            </a:r>
            <a:endParaRPr b="0" lang="en-US" sz="2400" spc="-1" strike="noStrike">
              <a:latin typeface="Noto Sans CJK KR"/>
            </a:endParaRPr>
          </a:p>
          <a:p>
            <a:pPr lvl="3" marL="1554480" indent="-388800">
              <a:lnSpc>
                <a:spcPts val="3359"/>
              </a:lnSpc>
              <a:buClr>
                <a:srgbClr val="000000"/>
              </a:buClr>
              <a:buFont typeface="Arial"/>
              <a:buChar char="￭"/>
            </a:pPr>
            <a:r>
              <a:rPr b="0" lang="ko-KR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얼마나 퍼지는가 </a:t>
            </a:r>
            <a:r>
              <a:rPr b="0" lang="en-US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(scale)</a:t>
            </a:r>
            <a:endParaRPr b="0" lang="en-US" sz="2400" spc="-1" strike="noStrike">
              <a:latin typeface="Noto Sans CJK KR"/>
            </a:endParaRPr>
          </a:p>
          <a:p>
            <a:pPr lvl="3" marL="1554480" indent="-388800">
              <a:lnSpc>
                <a:spcPts val="3359"/>
              </a:lnSpc>
              <a:buClr>
                <a:srgbClr val="000000"/>
              </a:buClr>
              <a:buFont typeface="Arial"/>
              <a:buChar char="￭"/>
            </a:pPr>
            <a:r>
              <a:rPr b="0" lang="ko-KR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어느 방향으로 퍼지는가 </a:t>
            </a:r>
            <a:r>
              <a:rPr b="0" lang="en-US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(orientation)</a:t>
            </a:r>
            <a:endParaRPr b="0" lang="en-US" sz="2400" spc="-1" strike="noStrike">
              <a:latin typeface="Noto Sans CJK KR"/>
            </a:endParaRPr>
          </a:p>
          <a:p>
            <a:pPr lvl="3" marL="1554480" indent="-388800">
              <a:lnSpc>
                <a:spcPts val="3359"/>
              </a:lnSpc>
              <a:buClr>
                <a:srgbClr val="000000"/>
              </a:buClr>
              <a:buFont typeface="Arial"/>
              <a:buChar char="￭"/>
            </a:pPr>
            <a:r>
              <a:rPr b="0" lang="en-US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→ </a:t>
            </a:r>
            <a:r>
              <a:rPr b="0" lang="ko-KR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구</a:t>
            </a:r>
            <a:r>
              <a:rPr b="0" lang="en-US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(sphere)</a:t>
            </a:r>
            <a:r>
              <a:rPr b="0" lang="ko-KR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일 수도 있고</a:t>
            </a:r>
            <a:endParaRPr b="0" lang="en-US" sz="2400" spc="-1" strike="noStrike">
              <a:latin typeface="Noto Sans CJK KR"/>
            </a:endParaRPr>
          </a:p>
          <a:p>
            <a:pPr lvl="3" marL="1554480" indent="-388800">
              <a:lnSpc>
                <a:spcPts val="3359"/>
              </a:lnSpc>
              <a:buClr>
                <a:srgbClr val="000000"/>
              </a:buClr>
              <a:buFont typeface="Arial"/>
              <a:buChar char="￭"/>
            </a:pPr>
            <a:r>
              <a:rPr b="0" lang="en-US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 → </a:t>
            </a:r>
            <a:r>
              <a:rPr b="0" lang="ko-KR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타원체</a:t>
            </a:r>
            <a:r>
              <a:rPr b="0" lang="en-US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(ellipsoid)</a:t>
            </a:r>
            <a:r>
              <a:rPr b="0" lang="ko-KR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일 수도 있음</a:t>
            </a:r>
            <a:endParaRPr b="0" lang="en-US" sz="2400" spc="-1" strike="noStrike">
              <a:latin typeface="Noto Sans CJK KR"/>
            </a:endParaRPr>
          </a:p>
          <a:p>
            <a:pPr lvl="2" marL="1036440" indent="-345600">
              <a:lnSpc>
                <a:spcPts val="3359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3) </a:t>
            </a:r>
            <a:r>
              <a:rPr b="0" lang="ko-KR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크기</a:t>
            </a:r>
            <a:r>
              <a:rPr b="0" lang="en-US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/</a:t>
            </a:r>
            <a:r>
              <a:rPr b="0" lang="ko-KR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세기 </a:t>
            </a:r>
            <a:r>
              <a:rPr b="0" lang="en-US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(amplitude)</a:t>
            </a:r>
            <a:endParaRPr b="0" lang="en-US" sz="2400" spc="-1" strike="noStrike">
              <a:latin typeface="Noto Sans CJK KR"/>
            </a:endParaRPr>
          </a:p>
          <a:p>
            <a:pPr lvl="3" marL="1554480" indent="-388800">
              <a:lnSpc>
                <a:spcPts val="3359"/>
              </a:lnSpc>
              <a:buClr>
                <a:srgbClr val="000000"/>
              </a:buClr>
              <a:buFont typeface="Arial"/>
              <a:buChar char="￭"/>
            </a:pPr>
            <a:r>
              <a:rPr b="0" lang="ko-KR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이 </a:t>
            </a:r>
            <a:r>
              <a:rPr b="0" lang="en-US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Gaussian</a:t>
            </a:r>
            <a:r>
              <a:rPr b="0" lang="ko-KR" sz="24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이 얼마나 강하게 기여하는지</a:t>
            </a:r>
            <a:endParaRPr b="0" lang="en-US" sz="2400" spc="-1" strike="noStrike">
              <a:latin typeface="Noto Sans CJK KR"/>
            </a:endParaRPr>
          </a:p>
          <a:p>
            <a:pPr>
              <a:lnSpc>
                <a:spcPts val="3359"/>
              </a:lnSpc>
              <a:buNone/>
            </a:pPr>
            <a:endParaRPr b="0" lang="en-US" sz="1800" spc="-1" strike="noStrike">
              <a:latin typeface="Noto Sans CJK KR"/>
            </a:endParaRPr>
          </a:p>
        </p:txBody>
      </p:sp>
      <p:sp>
        <p:nvSpPr>
          <p:cNvPr id="78" name="Freeform 10"/>
          <p:cNvSpPr/>
          <p:nvPr/>
        </p:nvSpPr>
        <p:spPr>
          <a:xfrm>
            <a:off x="9940680" y="1028880"/>
            <a:ext cx="5824440" cy="4653000"/>
          </a:xfrm>
          <a:custGeom>
            <a:avLst/>
            <a:gdLst/>
            <a:ahLst/>
            <a:rect l="l" t="t" r="r" b="b"/>
            <a:pathLst>
              <a:path w="5824842" h="4653208">
                <a:moveTo>
                  <a:pt x="0" y="0"/>
                </a:moveTo>
                <a:lnTo>
                  <a:pt x="5824841" y="0"/>
                </a:lnTo>
                <a:lnTo>
                  <a:pt x="5824841" y="4653208"/>
                </a:lnTo>
                <a:lnTo>
                  <a:pt x="0" y="465320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2"/>
          <p:cNvGrpSpPr/>
          <p:nvPr/>
        </p:nvGrpSpPr>
        <p:grpSpPr>
          <a:xfrm>
            <a:off x="-290880" y="9828000"/>
            <a:ext cx="18869400" cy="300600"/>
            <a:chOff x="-290880" y="9828000"/>
            <a:chExt cx="18869400" cy="300600"/>
          </a:xfrm>
        </p:grpSpPr>
        <p:sp>
          <p:nvSpPr>
            <p:cNvPr id="80" name="Freeform 3"/>
            <p:cNvSpPr/>
            <p:nvPr/>
          </p:nvSpPr>
          <p:spPr>
            <a:xfrm>
              <a:off x="-290880" y="10008720"/>
              <a:ext cx="18869400" cy="119520"/>
            </a:xfrm>
            <a:custGeom>
              <a:avLst/>
              <a:gdLst/>
              <a:ah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 w="19050">
              <a:solidFill>
                <a:srgbClr val="19191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" name="TextBox 4"/>
            <p:cNvSpPr/>
            <p:nvPr/>
          </p:nvSpPr>
          <p:spPr>
            <a:xfrm>
              <a:off x="-290880" y="9828000"/>
              <a:ext cx="18869400" cy="300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2" name="AutoShape 5"/>
          <p:cNvSpPr/>
          <p:nvPr/>
        </p:nvSpPr>
        <p:spPr>
          <a:xfrm>
            <a:off x="0" y="828360"/>
            <a:ext cx="3276360" cy="360"/>
          </a:xfrm>
          <a:prstGeom prst="line">
            <a:avLst/>
          </a:prstGeom>
          <a:ln w="38100">
            <a:solidFill>
              <a:srgbClr val="19191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Freeform 6"/>
          <p:cNvSpPr/>
          <p:nvPr/>
        </p:nvSpPr>
        <p:spPr>
          <a:xfrm>
            <a:off x="2636640" y="1519560"/>
            <a:ext cx="13014360" cy="4002840"/>
          </a:xfrm>
          <a:custGeom>
            <a:avLst/>
            <a:gdLst/>
            <a:ahLst/>
            <a:rect l="l" t="t" r="r" b="b"/>
            <a:pathLst>
              <a:path w="13014603" h="4003307">
                <a:moveTo>
                  <a:pt x="0" y="0"/>
                </a:moveTo>
                <a:lnTo>
                  <a:pt x="13014604" y="0"/>
                </a:lnTo>
                <a:lnTo>
                  <a:pt x="13014604" y="4003307"/>
                </a:lnTo>
                <a:lnTo>
                  <a:pt x="0" y="400330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Box 7"/>
          <p:cNvSpPr/>
          <p:nvPr/>
        </p:nvSpPr>
        <p:spPr>
          <a:xfrm>
            <a:off x="2199600" y="771480"/>
            <a:ext cx="215352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4198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Paper Rivew</a:t>
            </a:r>
            <a:endParaRPr b="0" lang="en-US" sz="3000" spc="-1" strike="noStrike">
              <a:latin typeface="Noto Sans CJK KR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0" y="5759280"/>
            <a:ext cx="18287640" cy="31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39640" indent="-270000" algn="just">
              <a:lnSpc>
                <a:spcPts val="3498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Initialization : COLMAP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과 같은 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SfM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알고리즘은 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Camera Pose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뿐만 아니라 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Point Cloud 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정보도 같이 얻을 수 있습니다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. 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이 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Point Cloud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들이 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3D Gaussian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의 초기 값으로 사용됩니다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.</a:t>
            </a:r>
            <a:endParaRPr b="0" lang="en-US" sz="2500" spc="-1" strike="noStrike">
              <a:latin typeface="Noto Sans CJK KR"/>
            </a:endParaRPr>
          </a:p>
          <a:p>
            <a:pPr lvl="1" marL="539640" indent="-270000" algn="just">
              <a:lnSpc>
                <a:spcPts val="3498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Projection : 3D Gaussian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이 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(Camera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에서 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z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축으로 거리가 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1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만큼 떨어진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) Image Plane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으로 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Projection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되어 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2D Gaussian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형태가 됩니다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. 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이 과정은 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GT 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입력 이미지와 비교하여 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parameter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를 업데이트하기 위함입니다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.</a:t>
            </a:r>
            <a:endParaRPr b="0" lang="en-US" sz="2500" spc="-1" strike="noStrike">
              <a:latin typeface="Noto Sans CJK KR"/>
            </a:endParaRPr>
          </a:p>
          <a:p>
            <a:pPr lvl="1" marL="539640" indent="-270000" algn="just">
              <a:lnSpc>
                <a:spcPts val="3498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Differentiable Tile Rasterizer : 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미분 가능한형태의 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Tile Rasterization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을 통해 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2D Gaussian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들을 하나의 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Image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로 생성합니다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.</a:t>
            </a:r>
            <a:endParaRPr b="0" lang="en-US" sz="2500" spc="-1" strike="noStrike">
              <a:latin typeface="Noto Sans CJK KR"/>
            </a:endParaRPr>
          </a:p>
          <a:p>
            <a:pPr lvl="1" marL="539640" indent="-270000" algn="just">
              <a:lnSpc>
                <a:spcPts val="3498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Gradient Flow : 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생성된 이미지와 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GT 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이미지의 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Loss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를 계산하고 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Loss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만큼 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Gradient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를 전파합니다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.</a:t>
            </a:r>
            <a:endParaRPr b="0" lang="en-US" sz="2500" spc="-1" strike="noStrike">
              <a:latin typeface="Noto Sans CJK KR"/>
            </a:endParaRPr>
          </a:p>
          <a:p>
            <a:pPr lvl="1" marL="539640" indent="-270000" algn="just">
              <a:lnSpc>
                <a:spcPts val="3498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Adaptive Density Control : Gradient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를 기반으로 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Gaussian</a:t>
            </a:r>
            <a:r>
              <a:rPr b="0" lang="ko-KR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의 형태를 변화시킵니다</a:t>
            </a:r>
            <a:r>
              <a:rPr b="0" lang="en-US" sz="2500" spc="-1" strike="noStrike">
                <a:solidFill>
                  <a:srgbClr val="000000"/>
                </a:solidFill>
                <a:latin typeface="RoxboroughCF"/>
                <a:ea typeface="RoxboroughCF"/>
              </a:rPr>
              <a:t>.</a:t>
            </a:r>
            <a:endParaRPr b="0" lang="en-US" sz="25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2"/>
          <p:cNvGrpSpPr/>
          <p:nvPr/>
        </p:nvGrpSpPr>
        <p:grpSpPr>
          <a:xfrm>
            <a:off x="-290880" y="9828000"/>
            <a:ext cx="18869400" cy="300600"/>
            <a:chOff x="-290880" y="9828000"/>
            <a:chExt cx="18869400" cy="300600"/>
          </a:xfrm>
        </p:grpSpPr>
        <p:sp>
          <p:nvSpPr>
            <p:cNvPr id="87" name="Freeform 3"/>
            <p:cNvSpPr/>
            <p:nvPr/>
          </p:nvSpPr>
          <p:spPr>
            <a:xfrm>
              <a:off x="-290880" y="10008720"/>
              <a:ext cx="18869400" cy="119520"/>
            </a:xfrm>
            <a:custGeom>
              <a:avLst/>
              <a:gdLst/>
              <a:ah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 w="19050">
              <a:solidFill>
                <a:srgbClr val="19191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" name="TextBox 4"/>
            <p:cNvSpPr/>
            <p:nvPr/>
          </p:nvSpPr>
          <p:spPr>
            <a:xfrm>
              <a:off x="-290880" y="9828000"/>
              <a:ext cx="18869400" cy="300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9" name="AutoShape 5"/>
          <p:cNvSpPr/>
          <p:nvPr/>
        </p:nvSpPr>
        <p:spPr>
          <a:xfrm>
            <a:off x="0" y="828360"/>
            <a:ext cx="3276360" cy="360"/>
          </a:xfrm>
          <a:prstGeom prst="line">
            <a:avLst/>
          </a:prstGeom>
          <a:ln w="38100">
            <a:solidFill>
              <a:srgbClr val="19191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Freeform 6"/>
          <p:cNvSpPr/>
          <p:nvPr/>
        </p:nvSpPr>
        <p:spPr>
          <a:xfrm>
            <a:off x="118080" y="1285920"/>
            <a:ext cx="2693520" cy="2621880"/>
          </a:xfrm>
          <a:custGeom>
            <a:avLst/>
            <a:gdLst/>
            <a:ahLst/>
            <a:rect l="l" t="t" r="r" b="b"/>
            <a:pathLst>
              <a:path w="2694012" h="2622172">
                <a:moveTo>
                  <a:pt x="0" y="0"/>
                </a:moveTo>
                <a:lnTo>
                  <a:pt x="2694012" y="0"/>
                </a:lnTo>
                <a:lnTo>
                  <a:pt x="2694012" y="2622171"/>
                </a:lnTo>
                <a:lnTo>
                  <a:pt x="0" y="262217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Freeform 7"/>
          <p:cNvSpPr/>
          <p:nvPr/>
        </p:nvSpPr>
        <p:spPr>
          <a:xfrm>
            <a:off x="8881200" y="743040"/>
            <a:ext cx="2150640" cy="3346560"/>
          </a:xfrm>
          <a:custGeom>
            <a:avLst/>
            <a:gdLst/>
            <a:ahLst/>
            <a:rect l="l" t="t" r="r" b="b"/>
            <a:pathLst>
              <a:path w="2150984" h="3346838">
                <a:moveTo>
                  <a:pt x="0" y="0"/>
                </a:moveTo>
                <a:lnTo>
                  <a:pt x="2150984" y="0"/>
                </a:lnTo>
                <a:lnTo>
                  <a:pt x="2150984" y="3346838"/>
                </a:lnTo>
                <a:lnTo>
                  <a:pt x="0" y="33468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Freeform 8"/>
          <p:cNvSpPr/>
          <p:nvPr/>
        </p:nvSpPr>
        <p:spPr>
          <a:xfrm>
            <a:off x="9153720" y="4089960"/>
            <a:ext cx="7287120" cy="4105440"/>
          </a:xfrm>
          <a:custGeom>
            <a:avLst/>
            <a:gdLst/>
            <a:ahLst/>
            <a:rect l="l" t="t" r="r" b="b"/>
            <a:pathLst>
              <a:path w="7287565" h="4105671">
                <a:moveTo>
                  <a:pt x="0" y="0"/>
                </a:moveTo>
                <a:lnTo>
                  <a:pt x="7287565" y="0"/>
                </a:lnTo>
                <a:lnTo>
                  <a:pt x="7287565" y="4105671"/>
                </a:lnTo>
                <a:lnTo>
                  <a:pt x="0" y="410567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Box 9"/>
          <p:cNvSpPr/>
          <p:nvPr/>
        </p:nvSpPr>
        <p:spPr>
          <a:xfrm>
            <a:off x="2199600" y="771480"/>
            <a:ext cx="215352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4198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Paper Rivew</a:t>
            </a:r>
            <a:endParaRPr b="0" lang="en-US" sz="3000" spc="-1" strike="noStrike">
              <a:latin typeface="Noto Sans CJK KR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3080160" y="1602000"/>
            <a:ext cx="4439160" cy="26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4198"/>
              </a:lnSpc>
              <a:buNone/>
            </a:pPr>
            <a:r>
              <a:rPr b="0" lang="ko-KR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여러 장의 이미지</a:t>
            </a:r>
            <a:endParaRPr b="0" lang="en-US" sz="3000" spc="-1" strike="noStrike">
              <a:latin typeface="Noto Sans CJK KR"/>
            </a:endParaRPr>
          </a:p>
          <a:p>
            <a:pPr algn="ctr">
              <a:lnSpc>
                <a:spcPts val="4198"/>
              </a:lnSpc>
              <a:buNone/>
            </a:pPr>
            <a:r>
              <a:rPr b="0" lang="ko-KR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각 이미지의 카메라 파라미터</a:t>
            </a:r>
            <a:endParaRPr b="0" lang="en-US" sz="3000" spc="-1" strike="noStrike">
              <a:latin typeface="Noto Sans CJK KR"/>
            </a:endParaRPr>
          </a:p>
          <a:p>
            <a:pPr algn="ctr">
              <a:lnSpc>
                <a:spcPts val="4198"/>
              </a:lnSpc>
              <a:buNone/>
            </a:pPr>
            <a:r>
              <a:rPr b="0" lang="ko-KR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그리고 </a:t>
            </a: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Sparse Point Cloud</a:t>
            </a:r>
            <a:endParaRPr b="0" lang="en-US" sz="3000" spc="-1" strike="noStrike">
              <a:latin typeface="Noto Sans CJK KR"/>
            </a:endParaRPr>
          </a:p>
        </p:txBody>
      </p:sp>
      <p:sp>
        <p:nvSpPr>
          <p:cNvPr id="95" name="TextBox 11"/>
          <p:cNvSpPr/>
          <p:nvPr/>
        </p:nvSpPr>
        <p:spPr>
          <a:xfrm>
            <a:off x="11402640" y="1864080"/>
            <a:ext cx="5703840" cy="15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4198"/>
              </a:lnSpc>
              <a:buNone/>
            </a:pPr>
            <a:r>
              <a:rPr b="0" lang="ko-KR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각각의 </a:t>
            </a: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sparse 3D point</a:t>
            </a:r>
            <a:r>
              <a:rPr b="0" lang="ko-KR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를</a:t>
            </a:r>
            <a:endParaRPr b="0" lang="en-US" sz="3000" spc="-1" strike="noStrike">
              <a:latin typeface="Noto Sans CJK KR"/>
            </a:endParaRPr>
          </a:p>
          <a:p>
            <a:pPr algn="ctr">
              <a:lnSpc>
                <a:spcPts val="4198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 </a:t>
            </a:r>
            <a:r>
              <a:rPr b="0" lang="ko-KR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하나의 </a:t>
            </a: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3D Gaussian</a:t>
            </a:r>
            <a:r>
              <a:rPr b="0" lang="ko-KR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으로 변환한다</a:t>
            </a: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.</a:t>
            </a:r>
            <a:endParaRPr b="0" lang="en-US" sz="3000" spc="-1" strike="noStrike">
              <a:latin typeface="Noto Sans CJK KR"/>
            </a:endParaRPr>
          </a:p>
        </p:txBody>
      </p:sp>
      <p:grpSp>
        <p:nvGrpSpPr>
          <p:cNvPr id="96" name="Group 12"/>
          <p:cNvGrpSpPr/>
          <p:nvPr/>
        </p:nvGrpSpPr>
        <p:grpSpPr>
          <a:xfrm>
            <a:off x="1856160" y="4559400"/>
            <a:ext cx="5807160" cy="4934880"/>
            <a:chOff x="1856160" y="4559400"/>
            <a:chExt cx="5807160" cy="4934880"/>
          </a:xfrm>
        </p:grpSpPr>
        <p:sp>
          <p:nvSpPr>
            <p:cNvPr id="97" name="Freeform 13"/>
            <p:cNvSpPr/>
            <p:nvPr/>
          </p:nvSpPr>
          <p:spPr>
            <a:xfrm>
              <a:off x="3942000" y="7923600"/>
              <a:ext cx="1635120" cy="1570680"/>
            </a:xfrm>
            <a:custGeom>
              <a:avLst/>
              <a:gdLst/>
              <a:ahLst/>
              <a:rect l="l" t="t" r="r" b="b"/>
              <a:pathLst>
                <a:path w="2180736" h="2094862">
                  <a:moveTo>
                    <a:pt x="0" y="0"/>
                  </a:moveTo>
                  <a:lnTo>
                    <a:pt x="2180736" y="0"/>
                  </a:lnTo>
                  <a:lnTo>
                    <a:pt x="2180736" y="2094862"/>
                  </a:lnTo>
                  <a:lnTo>
                    <a:pt x="0" y="2094862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" name="TextBox 14"/>
            <p:cNvSpPr/>
            <p:nvPr/>
          </p:nvSpPr>
          <p:spPr>
            <a:xfrm>
              <a:off x="1856160" y="4559400"/>
              <a:ext cx="5807160" cy="133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ts val="3498"/>
                </a:lnSpc>
                <a:buNone/>
              </a:pPr>
              <a:r>
                <a:rPr b="0" lang="ko-KR" sz="2500" spc="-1" strike="noStrike">
                  <a:solidFill>
                    <a:srgbClr val="000000"/>
                  </a:solidFill>
                  <a:latin typeface="RoxboroughCF"/>
                  <a:ea typeface="RoxboroughCF"/>
                </a:rPr>
                <a:t>초기에는 작고 단순한 </a:t>
              </a:r>
              <a:r>
                <a:rPr b="0" lang="en-US" sz="2500" spc="-1" strike="noStrike">
                  <a:solidFill>
                    <a:srgbClr val="000000"/>
                  </a:solidFill>
                  <a:latin typeface="RoxboroughCF"/>
                  <a:ea typeface="RoxboroughCF"/>
                </a:rPr>
                <a:t>Gaussian</a:t>
              </a:r>
              <a:endParaRPr b="0" lang="en-US" sz="2500" spc="-1" strike="noStrike">
                <a:latin typeface="Noto Sans CJK KR"/>
              </a:endParaRPr>
            </a:p>
            <a:p>
              <a:pPr algn="ctr">
                <a:lnSpc>
                  <a:spcPts val="3498"/>
                </a:lnSpc>
                <a:buNone/>
              </a:pPr>
              <a:r>
                <a:rPr b="0" lang="ko-KR" sz="2500" spc="-1" strike="noStrike">
                  <a:solidFill>
                    <a:srgbClr val="000000"/>
                  </a:solidFill>
                  <a:latin typeface="RoxboroughCF"/>
                  <a:ea typeface="RoxboroughCF"/>
                </a:rPr>
                <a:t>보통</a:t>
              </a:r>
              <a:r>
                <a:rPr b="0" lang="en-US" sz="2500" spc="-1" strike="noStrike">
                  <a:solidFill>
                    <a:srgbClr val="000000"/>
                  </a:solidFill>
                  <a:latin typeface="RoxboroughCF"/>
                  <a:ea typeface="RoxboroughCF"/>
                </a:rPr>
                <a:t>:</a:t>
              </a:r>
              <a:r>
                <a:rPr b="0" lang="ko-KR" sz="2500" spc="-1" strike="noStrike">
                  <a:solidFill>
                    <a:srgbClr val="000000"/>
                  </a:solidFill>
                  <a:latin typeface="RoxboroughCF"/>
                  <a:ea typeface="RoxboroughCF"/>
                </a:rPr>
                <a:t>거의 </a:t>
              </a:r>
              <a:r>
                <a:rPr b="0" lang="en-US" sz="2500" spc="-1" strike="noStrike">
                  <a:solidFill>
                    <a:srgbClr val="000000"/>
                  </a:solidFill>
                  <a:latin typeface="RoxboroughCF"/>
                  <a:ea typeface="RoxboroughCF"/>
                </a:rPr>
                <a:t>isotropic (</a:t>
              </a:r>
              <a:r>
                <a:rPr b="0" lang="ko-KR" sz="2500" spc="-1" strike="noStrike">
                  <a:solidFill>
                    <a:srgbClr val="000000"/>
                  </a:solidFill>
                  <a:latin typeface="RoxboroughCF"/>
                  <a:ea typeface="RoxboroughCF"/>
                </a:rPr>
                <a:t>구에 가까운 형태</a:t>
              </a:r>
              <a:r>
                <a:rPr b="0" lang="en-US" sz="2500" spc="-1" strike="noStrike">
                  <a:solidFill>
                    <a:srgbClr val="000000"/>
                  </a:solidFill>
                  <a:latin typeface="RoxboroughCF"/>
                  <a:ea typeface="RoxboroughCF"/>
                </a:rPr>
                <a:t>)</a:t>
              </a:r>
              <a:endParaRPr b="0" lang="en-US" sz="2500" spc="-1" strike="noStrike">
                <a:latin typeface="Noto Sans CJK KR"/>
              </a:endParaRPr>
            </a:p>
            <a:p>
              <a:pPr algn="ctr">
                <a:lnSpc>
                  <a:spcPts val="3498"/>
                </a:lnSpc>
                <a:buNone/>
              </a:pPr>
              <a:r>
                <a:rPr b="0" lang="ko-KR" sz="2500" spc="-1" strike="noStrike">
                  <a:solidFill>
                    <a:srgbClr val="000000"/>
                  </a:solidFill>
                  <a:latin typeface="RoxboroughCF"/>
                  <a:ea typeface="RoxboroughCF"/>
                </a:rPr>
                <a:t>아주 작은 크기</a:t>
              </a:r>
              <a:endParaRPr b="0" lang="en-US" sz="2500" spc="-1" strike="noStrike">
                <a:latin typeface="Noto Sans CJK KR"/>
              </a:endParaRPr>
            </a:p>
          </p:txBody>
        </p:sp>
        <p:sp>
          <p:nvSpPr>
            <p:cNvPr id="99" name="TextBox 15"/>
            <p:cNvSpPr/>
            <p:nvPr/>
          </p:nvSpPr>
          <p:spPr>
            <a:xfrm>
              <a:off x="2168280" y="6191640"/>
              <a:ext cx="5182920" cy="2221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ts val="3498"/>
                </a:lnSpc>
                <a:buNone/>
                <a:tabLst>
                  <a:tab algn="l" pos="0"/>
                </a:tabLst>
              </a:pPr>
              <a:r>
                <a:rPr b="0" lang="ko-KR" sz="2500" spc="-1" strike="noStrike">
                  <a:solidFill>
                    <a:srgbClr val="000000"/>
                  </a:solidFill>
                  <a:latin typeface="RoxboroughCF"/>
                  <a:ea typeface="RoxboroughCF"/>
                </a:rPr>
                <a:t>해당 </a:t>
              </a:r>
              <a:r>
                <a:rPr b="0" lang="en-US" sz="2500" spc="-1" strike="noStrike">
                  <a:solidFill>
                    <a:srgbClr val="000000"/>
                  </a:solidFill>
                  <a:latin typeface="RoxboroughCF"/>
                  <a:ea typeface="RoxboroughCF"/>
                </a:rPr>
                <a:t>3D point</a:t>
              </a:r>
              <a:r>
                <a:rPr b="0" lang="ko-KR" sz="2500" spc="-1" strike="noStrike">
                  <a:solidFill>
                    <a:srgbClr val="000000"/>
                  </a:solidFill>
                  <a:latin typeface="RoxboroughCF"/>
                  <a:ea typeface="RoxboroughCF"/>
                </a:rPr>
                <a:t>가 관측된 이미지들에서 픽셀 색을 평균내어 초기 색상 설정</a:t>
              </a:r>
              <a:endParaRPr b="0" lang="en-US" sz="2500" spc="-1" strike="noStrike">
                <a:latin typeface="Noto Sans CJK KR"/>
              </a:endParaRPr>
            </a:p>
            <a:p>
              <a:pPr algn="ctr">
                <a:lnSpc>
                  <a:spcPts val="3498"/>
                </a:lnSpc>
                <a:buNone/>
                <a:tabLst>
                  <a:tab algn="l" pos="0"/>
                </a:tabLst>
              </a:pPr>
              <a:r>
                <a:rPr b="0" lang="ko-KR" sz="2500" spc="-1" strike="noStrike">
                  <a:solidFill>
                    <a:srgbClr val="000000"/>
                  </a:solidFill>
                  <a:latin typeface="RoxboroughCF"/>
                  <a:ea typeface="RoxboroughCF"/>
                </a:rPr>
                <a:t>이후 </a:t>
              </a:r>
              <a:r>
                <a:rPr b="0" lang="en-US" sz="2500" spc="-1" strike="noStrike">
                  <a:solidFill>
                    <a:srgbClr val="000000"/>
                  </a:solidFill>
                  <a:latin typeface="RoxboroughCF"/>
                  <a:ea typeface="RoxboroughCF"/>
                </a:rPr>
                <a:t>view-dependent </a:t>
              </a:r>
              <a:r>
                <a:rPr b="0" lang="ko-KR" sz="2500" spc="-1" strike="noStrike">
                  <a:solidFill>
                    <a:srgbClr val="000000"/>
                  </a:solidFill>
                  <a:latin typeface="RoxboroughCF"/>
                  <a:ea typeface="RoxboroughCF"/>
                </a:rPr>
                <a:t>표현을 위해</a:t>
              </a:r>
              <a:endParaRPr b="0" lang="en-US" sz="2500" spc="-1" strike="noStrike">
                <a:latin typeface="Noto Sans CJK KR"/>
              </a:endParaRPr>
            </a:p>
            <a:p>
              <a:pPr algn="ctr">
                <a:lnSpc>
                  <a:spcPts val="3498"/>
                </a:lnSpc>
                <a:buNone/>
                <a:tabLst>
                  <a:tab algn="l" pos="0"/>
                </a:tabLst>
              </a:pPr>
              <a:r>
                <a:rPr b="0" lang="en-US" sz="2500" spc="-1" strike="noStrike">
                  <a:solidFill>
                    <a:srgbClr val="000000"/>
                  </a:solidFill>
                  <a:latin typeface="RoxboroughCF"/>
                  <a:ea typeface="RoxboroughCF"/>
                </a:rPr>
                <a:t>Spherical Harmonics(SH) </a:t>
              </a:r>
              <a:r>
                <a:rPr b="0" lang="ko-KR" sz="2500" spc="-1" strike="noStrike">
                  <a:solidFill>
                    <a:srgbClr val="000000"/>
                  </a:solidFill>
                  <a:latin typeface="RoxboroughCF"/>
                  <a:ea typeface="RoxboroughCF"/>
                </a:rPr>
                <a:t>계수로 확장</a:t>
              </a:r>
              <a:endParaRPr b="0" lang="en-US" sz="2500" spc="-1" strike="noStrike">
                <a:latin typeface="Noto Sans CJK KR"/>
              </a:endParaRPr>
            </a:p>
          </p:txBody>
        </p:sp>
      </p:grpSp>
      <p:sp>
        <p:nvSpPr>
          <p:cNvPr id="100" name="TextBox 16"/>
          <p:cNvSpPr/>
          <p:nvPr/>
        </p:nvSpPr>
        <p:spPr>
          <a:xfrm>
            <a:off x="9095760" y="8287920"/>
            <a:ext cx="91918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4198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3DGS</a:t>
            </a:r>
            <a:r>
              <a:rPr b="0" lang="ko-KR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는 </a:t>
            </a: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Gaussian</a:t>
            </a:r>
            <a:r>
              <a:rPr b="0" lang="ko-KR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을 처음부터 정교하게 만드는 게 아니라</a:t>
            </a: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, </a:t>
            </a:r>
            <a:r>
              <a:rPr b="0" lang="ko-KR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대략적인 구조 위에 </a:t>
            </a: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Gaussian</a:t>
            </a:r>
            <a:r>
              <a:rPr b="0" lang="ko-KR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을 놓고</a:t>
            </a:r>
            <a:endParaRPr b="0" lang="en-US" sz="3000" spc="-1" strike="noStrike">
              <a:latin typeface="Noto Sans CJK KR"/>
            </a:endParaRPr>
          </a:p>
          <a:p>
            <a:pPr algn="ctr">
              <a:lnSpc>
                <a:spcPts val="4198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 </a:t>
            </a:r>
            <a:r>
              <a:rPr b="0" lang="ko-KR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학습하면서 점점 정밀하게 다듬어간다</a:t>
            </a: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.</a:t>
            </a:r>
            <a:endParaRPr b="0" lang="en-US" sz="3000" spc="-1" strike="noStrike">
              <a:latin typeface="Noto Sans CJK KR"/>
            </a:endParaRPr>
          </a:p>
        </p:txBody>
      </p:sp>
      <p:sp>
        <p:nvSpPr>
          <p:cNvPr id="101" name="Freeform 17"/>
          <p:cNvSpPr/>
          <p:nvPr/>
        </p:nvSpPr>
        <p:spPr>
          <a:xfrm>
            <a:off x="7786800" y="2172600"/>
            <a:ext cx="977760" cy="487080"/>
          </a:xfrm>
          <a:custGeom>
            <a:avLst/>
            <a:gdLst/>
            <a:ahLst/>
            <a:rect l="l" t="t" r="r" b="b"/>
            <a:pathLst>
              <a:path w="977942" h="487597">
                <a:moveTo>
                  <a:pt x="0" y="0"/>
                </a:moveTo>
                <a:lnTo>
                  <a:pt x="977942" y="0"/>
                </a:lnTo>
                <a:lnTo>
                  <a:pt x="977942" y="487597"/>
                </a:lnTo>
                <a:lnTo>
                  <a:pt x="0" y="48759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Freeform 18"/>
          <p:cNvSpPr/>
          <p:nvPr/>
        </p:nvSpPr>
        <p:spPr>
          <a:xfrm>
            <a:off x="7804440" y="5773680"/>
            <a:ext cx="977760" cy="487080"/>
          </a:xfrm>
          <a:custGeom>
            <a:avLst/>
            <a:gdLst/>
            <a:ahLst/>
            <a:rect l="l" t="t" r="r" b="b"/>
            <a:pathLst>
              <a:path w="977942" h="487597">
                <a:moveTo>
                  <a:pt x="0" y="0"/>
                </a:moveTo>
                <a:lnTo>
                  <a:pt x="977942" y="0"/>
                </a:lnTo>
                <a:lnTo>
                  <a:pt x="977942" y="487597"/>
                </a:lnTo>
                <a:lnTo>
                  <a:pt x="0" y="48759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Freeform 19"/>
          <p:cNvSpPr/>
          <p:nvPr/>
        </p:nvSpPr>
        <p:spPr>
          <a:xfrm>
            <a:off x="996120" y="5853240"/>
            <a:ext cx="977760" cy="487080"/>
          </a:xfrm>
          <a:custGeom>
            <a:avLst/>
            <a:gdLst/>
            <a:ahLst/>
            <a:rect l="l" t="t" r="r" b="b"/>
            <a:pathLst>
              <a:path w="977942" h="487597">
                <a:moveTo>
                  <a:pt x="0" y="0"/>
                </a:moveTo>
                <a:lnTo>
                  <a:pt x="977942" y="0"/>
                </a:lnTo>
                <a:lnTo>
                  <a:pt x="977942" y="487598"/>
                </a:lnTo>
                <a:lnTo>
                  <a:pt x="0" y="48759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Freeform 20"/>
          <p:cNvSpPr/>
          <p:nvPr/>
        </p:nvSpPr>
        <p:spPr>
          <a:xfrm>
            <a:off x="7903080" y="8770680"/>
            <a:ext cx="977760" cy="487080"/>
          </a:xfrm>
          <a:custGeom>
            <a:avLst/>
            <a:gdLst/>
            <a:ahLst/>
            <a:rect l="l" t="t" r="r" b="b"/>
            <a:pathLst>
              <a:path w="977942" h="487597">
                <a:moveTo>
                  <a:pt x="0" y="0"/>
                </a:moveTo>
                <a:lnTo>
                  <a:pt x="977942" y="0"/>
                </a:lnTo>
                <a:lnTo>
                  <a:pt x="977942" y="487597"/>
                </a:lnTo>
                <a:lnTo>
                  <a:pt x="0" y="48759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Freeform 2"/>
          <p:cNvSpPr/>
          <p:nvPr/>
        </p:nvSpPr>
        <p:spPr>
          <a:xfrm>
            <a:off x="549720" y="1330200"/>
            <a:ext cx="17328600" cy="7927560"/>
          </a:xfrm>
          <a:custGeom>
            <a:avLst/>
            <a:gdLst/>
            <a:ahLst/>
            <a:rect l="l" t="t" r="r" b="b"/>
            <a:pathLst>
              <a:path w="17328930" h="7927986">
                <a:moveTo>
                  <a:pt x="0" y="0"/>
                </a:moveTo>
                <a:lnTo>
                  <a:pt x="17328930" y="0"/>
                </a:lnTo>
                <a:lnTo>
                  <a:pt x="17328930" y="7927986"/>
                </a:lnTo>
                <a:lnTo>
                  <a:pt x="0" y="792798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Box 3"/>
          <p:cNvSpPr/>
          <p:nvPr/>
        </p:nvSpPr>
        <p:spPr>
          <a:xfrm>
            <a:off x="144360" y="30960"/>
            <a:ext cx="14351400" cy="81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6440"/>
              </a:lnSpc>
              <a:buNone/>
            </a:pPr>
            <a:r>
              <a:rPr b="0" lang="en-US" sz="4600" spc="-1" strike="noStrike" u="sng">
                <a:solidFill>
                  <a:srgbClr val="0000ff"/>
                </a:solidFill>
                <a:uFillTx/>
                <a:latin typeface="arial"/>
                <a:ea typeface="arial"/>
                <a:hlinkClick r:id="rId2"/>
              </a:rPr>
              <a:t>https://repo-sam.inria.fr/fungraph/3d-gaussian-splatting/</a:t>
            </a:r>
            <a:endParaRPr b="0" lang="en-US" sz="46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3"/>
          <p:cNvGrpSpPr/>
          <p:nvPr/>
        </p:nvGrpSpPr>
        <p:grpSpPr>
          <a:xfrm>
            <a:off x="-290880" y="9828000"/>
            <a:ext cx="18869400" cy="300600"/>
            <a:chOff x="-290880" y="9828000"/>
            <a:chExt cx="18869400" cy="300600"/>
          </a:xfrm>
        </p:grpSpPr>
        <p:sp>
          <p:nvSpPr>
            <p:cNvPr id="108" name="Freeform 9"/>
            <p:cNvSpPr/>
            <p:nvPr/>
          </p:nvSpPr>
          <p:spPr>
            <a:xfrm>
              <a:off x="-290880" y="10008720"/>
              <a:ext cx="18869400" cy="119520"/>
            </a:xfrm>
            <a:custGeom>
              <a:avLst/>
              <a:gdLst/>
              <a:ah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 w="19050">
              <a:solidFill>
                <a:srgbClr val="19191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TextBox 12"/>
            <p:cNvSpPr/>
            <p:nvPr/>
          </p:nvSpPr>
          <p:spPr>
            <a:xfrm>
              <a:off x="-290880" y="9828000"/>
              <a:ext cx="18869400" cy="300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0" name="AutoShape 2"/>
          <p:cNvSpPr/>
          <p:nvPr/>
        </p:nvSpPr>
        <p:spPr>
          <a:xfrm>
            <a:off x="0" y="828360"/>
            <a:ext cx="3276360" cy="360"/>
          </a:xfrm>
          <a:prstGeom prst="line">
            <a:avLst/>
          </a:prstGeom>
          <a:ln w="38100">
            <a:solidFill>
              <a:srgbClr val="191919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11" name="Group 4"/>
          <p:cNvGrpSpPr/>
          <p:nvPr/>
        </p:nvGrpSpPr>
        <p:grpSpPr>
          <a:xfrm>
            <a:off x="9607320" y="828720"/>
            <a:ext cx="8114760" cy="3983760"/>
            <a:chOff x="9607320" y="828720"/>
            <a:chExt cx="8114760" cy="3983760"/>
          </a:xfrm>
        </p:grpSpPr>
        <p:sp>
          <p:nvSpPr>
            <p:cNvPr id="112" name="Freeform 11"/>
            <p:cNvSpPr/>
            <p:nvPr/>
          </p:nvSpPr>
          <p:spPr>
            <a:xfrm>
              <a:off x="9607320" y="828720"/>
              <a:ext cx="3607200" cy="3607200"/>
            </a:xfrm>
            <a:custGeom>
              <a:avLst/>
              <a:gdLst/>
              <a:ahLst/>
              <a:rect l="l" t="t" r="r" b="b"/>
              <a:pathLst>
                <a:path w="4810311" h="4810311">
                  <a:moveTo>
                    <a:pt x="0" y="0"/>
                  </a:moveTo>
                  <a:lnTo>
                    <a:pt x="4810311" y="0"/>
                  </a:lnTo>
                  <a:lnTo>
                    <a:pt x="4810311" y="4810311"/>
                  </a:lnTo>
                  <a:lnTo>
                    <a:pt x="0" y="481031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Freeform 12"/>
            <p:cNvSpPr/>
            <p:nvPr/>
          </p:nvSpPr>
          <p:spPr>
            <a:xfrm>
              <a:off x="13214880" y="828720"/>
              <a:ext cx="2268000" cy="3983760"/>
            </a:xfrm>
            <a:custGeom>
              <a:avLst/>
              <a:gdLst/>
              <a:ahLst/>
              <a:rect l="l" t="t" r="r" b="b"/>
              <a:pathLst>
                <a:path w="3024630" h="5312074">
                  <a:moveTo>
                    <a:pt x="0" y="0"/>
                  </a:moveTo>
                  <a:lnTo>
                    <a:pt x="3024630" y="0"/>
                  </a:lnTo>
                  <a:lnTo>
                    <a:pt x="3024630" y="5312074"/>
                  </a:lnTo>
                  <a:lnTo>
                    <a:pt x="0" y="531207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Freeform 14"/>
            <p:cNvSpPr/>
            <p:nvPr/>
          </p:nvSpPr>
          <p:spPr>
            <a:xfrm>
              <a:off x="15454080" y="828720"/>
              <a:ext cx="2268000" cy="3983760"/>
            </a:xfrm>
            <a:custGeom>
              <a:avLst/>
              <a:gdLst/>
              <a:ahLst/>
              <a:rect l="l" t="t" r="r" b="b"/>
              <a:pathLst>
                <a:path w="3024630" h="5312074">
                  <a:moveTo>
                    <a:pt x="0" y="0"/>
                  </a:moveTo>
                  <a:lnTo>
                    <a:pt x="3024630" y="0"/>
                  </a:lnTo>
                  <a:lnTo>
                    <a:pt x="3024630" y="5312074"/>
                  </a:lnTo>
                  <a:lnTo>
                    <a:pt x="0" y="531207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5" name="Freeform 15"/>
          <p:cNvSpPr/>
          <p:nvPr/>
        </p:nvSpPr>
        <p:spPr>
          <a:xfrm>
            <a:off x="9041400" y="5628240"/>
            <a:ext cx="9246240" cy="4380120"/>
          </a:xfrm>
          <a:custGeom>
            <a:avLst/>
            <a:gdLst/>
            <a:ahLst/>
            <a:rect l="l" t="t" r="r" b="b"/>
            <a:pathLst>
              <a:path w="9246421" h="4380492">
                <a:moveTo>
                  <a:pt x="0" y="0"/>
                </a:moveTo>
                <a:lnTo>
                  <a:pt x="9246421" y="0"/>
                </a:lnTo>
                <a:lnTo>
                  <a:pt x="9246421" y="4380492"/>
                </a:lnTo>
                <a:lnTo>
                  <a:pt x="0" y="438049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Box 13"/>
          <p:cNvSpPr/>
          <p:nvPr/>
        </p:nvSpPr>
        <p:spPr>
          <a:xfrm>
            <a:off x="2812320" y="771480"/>
            <a:ext cx="927720" cy="53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4198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Skull </a:t>
            </a:r>
            <a:endParaRPr b="0" lang="en-US" sz="3000" spc="-1" strike="noStrike">
              <a:latin typeface="Noto Sans CJK KR"/>
            </a:endParaRPr>
          </a:p>
        </p:txBody>
      </p:sp>
      <p:sp>
        <p:nvSpPr>
          <p:cNvPr id="117" name="TextBox 17"/>
          <p:cNvSpPr/>
          <p:nvPr/>
        </p:nvSpPr>
        <p:spPr>
          <a:xfrm>
            <a:off x="1028880" y="1512000"/>
            <a:ext cx="8229240" cy="785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4198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DRR</a:t>
            </a:r>
            <a:r>
              <a:rPr b="0" lang="ko-KR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을 이용한 </a:t>
            </a: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Synthetic X-ray  </a:t>
            </a:r>
            <a:r>
              <a:rPr b="0" lang="ko-KR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비교</a:t>
            </a:r>
            <a:endParaRPr b="0" lang="en-US" sz="3000" spc="-1" strike="noStrike">
              <a:latin typeface="Noto Sans CJK KR"/>
            </a:endParaRPr>
          </a:p>
          <a:p>
            <a:pPr>
              <a:lnSpc>
                <a:spcPts val="4198"/>
              </a:lnSpc>
              <a:buNone/>
            </a:pPr>
            <a:endParaRPr b="0" lang="en-US" sz="1800" spc="-1" strike="noStrike">
              <a:latin typeface="Noto Sans CJK KR"/>
            </a:endParaRPr>
          </a:p>
          <a:p>
            <a:pPr lvl="1" marL="474840" indent="-237600">
              <a:lnSpc>
                <a:spcPts val="3078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DRR</a:t>
            </a:r>
            <a:endParaRPr b="0" lang="en-US" sz="2200" spc="-1" strike="noStrike">
              <a:latin typeface="Noto Sans CJK KR"/>
            </a:endParaRPr>
          </a:p>
          <a:p>
            <a:pPr lvl="2" marL="950040" indent="-316800">
              <a:lnSpc>
                <a:spcPts val="3078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CT</a:t>
            </a:r>
            <a:r>
              <a:rPr b="0" lang="ko-KR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로부터 생성한 물리 기반 가상 </a:t>
            </a: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X-ray</a:t>
            </a:r>
            <a:endParaRPr b="0" lang="en-US" sz="2200" spc="-1" strike="noStrike">
              <a:latin typeface="Noto Sans CJK KR"/>
            </a:endParaRPr>
          </a:p>
          <a:p>
            <a:pPr lvl="2" marL="950040" indent="-316800">
              <a:lnSpc>
                <a:spcPts val="3078"/>
              </a:lnSpc>
              <a:buClr>
                <a:srgbClr val="000000"/>
              </a:buClr>
              <a:buFont typeface="Arial"/>
              <a:buChar char="⚬"/>
            </a:pPr>
            <a:r>
              <a:rPr b="0" lang="ko-KR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촬영 기하</a:t>
            </a: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, </a:t>
            </a:r>
            <a:r>
              <a:rPr b="0" lang="ko-KR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각도</a:t>
            </a: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, </a:t>
            </a:r>
            <a:r>
              <a:rPr b="0" lang="ko-KR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거리 모두 제어 가능</a:t>
            </a:r>
            <a:endParaRPr b="0" lang="en-US" sz="2200" spc="-1" strike="noStrike">
              <a:latin typeface="Noto Sans CJK KR"/>
            </a:endParaRPr>
          </a:p>
          <a:p>
            <a:pPr>
              <a:lnSpc>
                <a:spcPts val="3078"/>
              </a:lnSpc>
              <a:buNone/>
            </a:pPr>
            <a:endParaRPr b="0" lang="en-US" sz="1800" spc="-1" strike="noStrike">
              <a:latin typeface="Noto Sans CJK KR"/>
            </a:endParaRPr>
          </a:p>
          <a:p>
            <a:pPr lvl="1" marL="474840" indent="-237600">
              <a:lnSpc>
                <a:spcPts val="3078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CT2Xray </a:t>
            </a:r>
            <a:endParaRPr b="0" lang="en-US" sz="2200" spc="-1" strike="noStrike">
              <a:latin typeface="Noto Sans CJK KR"/>
            </a:endParaRPr>
          </a:p>
          <a:p>
            <a:pPr lvl="2" marL="950040" indent="-316800">
              <a:lnSpc>
                <a:spcPts val="3078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Systhetic X-ray </a:t>
            </a:r>
            <a:r>
              <a:rPr b="0" lang="ko-KR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연구는 진행되고있음</a:t>
            </a: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.</a:t>
            </a:r>
            <a:endParaRPr b="0" lang="en-US" sz="2200" spc="-1" strike="noStrike">
              <a:latin typeface="Noto Sans CJK KR"/>
            </a:endParaRPr>
          </a:p>
          <a:p>
            <a:pPr lvl="2" marL="950040" indent="-316800">
              <a:lnSpc>
                <a:spcPts val="3078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CT → DRR</a:t>
            </a:r>
            <a:r>
              <a:rPr b="0" lang="ko-KR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로 </a:t>
            </a: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synthetic X-ray</a:t>
            </a:r>
            <a:r>
              <a:rPr b="0" lang="ko-KR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를 만들어 학습</a:t>
            </a:r>
            <a:endParaRPr b="0" lang="en-US" sz="2200" spc="-1" strike="noStrike">
              <a:latin typeface="Noto Sans CJK KR"/>
            </a:endParaRPr>
          </a:p>
          <a:p>
            <a:pPr lvl="2" marL="950040" indent="-316800">
              <a:lnSpc>
                <a:spcPts val="3078"/>
              </a:lnSpc>
              <a:buClr>
                <a:srgbClr val="000000"/>
              </a:buClr>
              <a:buFont typeface="Arial"/>
              <a:buChar char="⚬"/>
            </a:pPr>
            <a:r>
              <a:rPr b="0" lang="ko-KR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단일 </a:t>
            </a: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X-ray</a:t>
            </a:r>
            <a:r>
              <a:rPr b="0" lang="ko-KR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에서 임상적으로 말이 되는 다른 </a:t>
            </a: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X-ray view </a:t>
            </a:r>
            <a:r>
              <a:rPr b="0" lang="ko-KR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생성</a:t>
            </a:r>
            <a:endParaRPr b="0" lang="en-US" sz="2200" spc="-1" strike="noStrike">
              <a:latin typeface="Noto Sans CJK KR"/>
            </a:endParaRPr>
          </a:p>
          <a:p>
            <a:pPr lvl="2" marL="950040" indent="-316800">
              <a:lnSpc>
                <a:spcPts val="3078"/>
              </a:lnSpc>
              <a:buClr>
                <a:srgbClr val="000000"/>
              </a:buClr>
              <a:buFont typeface="Arial"/>
              <a:buChar char="⚬"/>
            </a:pPr>
            <a:r>
              <a:rPr b="0" lang="ko-KR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최종 </a:t>
            </a: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inference</a:t>
            </a:r>
            <a:r>
              <a:rPr b="0" lang="ko-KR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는 </a:t>
            </a: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X-ray </a:t>
            </a:r>
            <a:r>
              <a:rPr b="0" lang="ko-KR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한장 → 다른 </a:t>
            </a: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View X-ray </a:t>
            </a:r>
            <a:r>
              <a:rPr b="0" lang="ko-KR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생성</a:t>
            </a:r>
            <a:endParaRPr b="0" lang="en-US" sz="2200" spc="-1" strike="noStrike">
              <a:latin typeface="Noto Sans CJK KR"/>
            </a:endParaRPr>
          </a:p>
          <a:p>
            <a:pPr>
              <a:lnSpc>
                <a:spcPts val="3078"/>
              </a:lnSpc>
              <a:buNone/>
            </a:pPr>
            <a:endParaRPr b="0" lang="en-US" sz="1800" spc="-1" strike="noStrike">
              <a:latin typeface="Noto Sans CJK KR"/>
            </a:endParaRPr>
          </a:p>
          <a:p>
            <a:pPr lvl="1" marL="474840" indent="-237600">
              <a:lnSpc>
                <a:spcPts val="3078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Plan</a:t>
            </a:r>
            <a:endParaRPr b="0" lang="en-US" sz="2200" spc="-1" strike="noStrike">
              <a:latin typeface="Noto Sans CJK KR"/>
            </a:endParaRPr>
          </a:p>
          <a:p>
            <a:pPr lvl="2" marL="950040" indent="-316800">
              <a:lnSpc>
                <a:spcPts val="3078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CT → DRR</a:t>
            </a:r>
            <a:r>
              <a:rPr b="0" lang="ko-KR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로 </a:t>
            </a: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systhetic X-ray</a:t>
            </a:r>
            <a:r>
              <a:rPr b="0" lang="ko-KR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를 만들어 학습 </a:t>
            </a: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( CT Prior </a:t>
            </a:r>
            <a:r>
              <a:rPr b="0" lang="ko-KR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포함</a:t>
            </a: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)</a:t>
            </a:r>
            <a:endParaRPr b="0" lang="en-US" sz="2200" spc="-1" strike="noStrike">
              <a:latin typeface="Noto Sans CJK KR"/>
            </a:endParaRPr>
          </a:p>
          <a:p>
            <a:pPr lvl="2" marL="950040" indent="-316800">
              <a:lnSpc>
                <a:spcPts val="3078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multi-view X-ray</a:t>
            </a:r>
            <a:r>
              <a:rPr b="0" lang="ko-KR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를 생성해서 </a:t>
            </a: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3D reconstruction </a:t>
            </a:r>
            <a:r>
              <a:rPr b="0" lang="ko-KR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진행</a:t>
            </a:r>
            <a:endParaRPr b="0" lang="en-US" sz="2200" spc="-1" strike="noStrike">
              <a:latin typeface="Noto Sans CJK KR"/>
            </a:endParaRPr>
          </a:p>
          <a:p>
            <a:pPr lvl="2" marL="950040" indent="-316800">
              <a:lnSpc>
                <a:spcPts val="3078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NeRf + 3DGS</a:t>
            </a:r>
            <a:r>
              <a:rPr b="0" lang="ko-KR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를 통해 </a:t>
            </a: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3D </a:t>
            </a:r>
            <a:r>
              <a:rPr b="0" lang="ko-KR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최적화</a:t>
            </a:r>
            <a:endParaRPr b="0" lang="en-US" sz="2200" spc="-1" strike="noStrike">
              <a:latin typeface="Noto Sans CJK KR"/>
            </a:endParaRPr>
          </a:p>
          <a:p>
            <a:pPr lvl="2" marL="950040" indent="-316800">
              <a:lnSpc>
                <a:spcPts val="3078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PointNet++  </a:t>
            </a:r>
            <a:r>
              <a:rPr b="0" lang="ko-KR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을 활용한 </a:t>
            </a: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classification </a:t>
            </a:r>
            <a:endParaRPr b="0" lang="en-US" sz="2200" spc="-1" strike="noStrike">
              <a:latin typeface="Noto Sans CJK KR"/>
            </a:endParaRPr>
          </a:p>
          <a:p>
            <a:pPr>
              <a:lnSpc>
                <a:spcPts val="4198"/>
              </a:lnSpc>
              <a:buNone/>
            </a:pPr>
            <a:endParaRPr b="0" lang="en-US" sz="1800" spc="-1" strike="noStrike"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5"/>
          <p:cNvGrpSpPr/>
          <p:nvPr/>
        </p:nvGrpSpPr>
        <p:grpSpPr>
          <a:xfrm>
            <a:off x="-290880" y="9828000"/>
            <a:ext cx="18869400" cy="300600"/>
            <a:chOff x="-290880" y="9828000"/>
            <a:chExt cx="18869400" cy="300600"/>
          </a:xfrm>
        </p:grpSpPr>
        <p:sp>
          <p:nvSpPr>
            <p:cNvPr id="119" name="Freeform 16"/>
            <p:cNvSpPr/>
            <p:nvPr/>
          </p:nvSpPr>
          <p:spPr>
            <a:xfrm>
              <a:off x="-290880" y="10008720"/>
              <a:ext cx="18869400" cy="119520"/>
            </a:xfrm>
            <a:custGeom>
              <a:avLst/>
              <a:gdLst/>
              <a:ah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 w="19050">
              <a:solidFill>
                <a:srgbClr val="19191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" name="TextBox 18"/>
            <p:cNvSpPr/>
            <p:nvPr/>
          </p:nvSpPr>
          <p:spPr>
            <a:xfrm>
              <a:off x="-290880" y="9828000"/>
              <a:ext cx="18869400" cy="300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1" name="AutoShape 3"/>
          <p:cNvSpPr/>
          <p:nvPr/>
        </p:nvSpPr>
        <p:spPr>
          <a:xfrm>
            <a:off x="0" y="828360"/>
            <a:ext cx="3276360" cy="360"/>
          </a:xfrm>
          <a:prstGeom prst="line">
            <a:avLst/>
          </a:prstGeom>
          <a:ln w="38100">
            <a:solidFill>
              <a:srgbClr val="19191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Box 19"/>
          <p:cNvSpPr/>
          <p:nvPr/>
        </p:nvSpPr>
        <p:spPr>
          <a:xfrm>
            <a:off x="2812320" y="771480"/>
            <a:ext cx="927720" cy="53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4198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Skull </a:t>
            </a:r>
            <a:endParaRPr b="0" lang="en-US" sz="3000" spc="-1" strike="noStrike">
              <a:latin typeface="Noto Sans CJK KR"/>
            </a:endParaRPr>
          </a:p>
        </p:txBody>
      </p:sp>
      <p:sp>
        <p:nvSpPr>
          <p:cNvPr id="123" name="TextBox 20"/>
          <p:cNvSpPr/>
          <p:nvPr/>
        </p:nvSpPr>
        <p:spPr>
          <a:xfrm>
            <a:off x="1028880" y="1512000"/>
            <a:ext cx="8229240" cy="26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4198"/>
              </a:lnSpc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DRR</a:t>
            </a:r>
            <a:r>
              <a:rPr b="0" lang="ko-KR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을 이용한 </a:t>
            </a:r>
            <a:r>
              <a:rPr b="0" lang="en-US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Synthetic X-ray  </a:t>
            </a:r>
            <a:r>
              <a:rPr b="0" lang="ko-KR" sz="3000" spc="-1" strike="noStrike">
                <a:solidFill>
                  <a:srgbClr val="000000"/>
                </a:solidFill>
                <a:latin typeface="RoxboroughCF"/>
                <a:ea typeface="RoxboroughCF"/>
              </a:rPr>
              <a:t>비교</a:t>
            </a:r>
            <a:endParaRPr b="0" lang="en-US" sz="3000" spc="-1" strike="noStrike">
              <a:latin typeface="Noto Sans CJK KR"/>
            </a:endParaRPr>
          </a:p>
          <a:p>
            <a:pPr>
              <a:lnSpc>
                <a:spcPts val="4198"/>
              </a:lnSpc>
              <a:buNone/>
            </a:pPr>
            <a:endParaRPr b="0" lang="en-US" sz="2200" spc="-1" strike="noStrike">
              <a:latin typeface="Noto Sans CJK KR"/>
            </a:endParaRPr>
          </a:p>
          <a:p>
            <a:pPr>
              <a:lnSpc>
                <a:spcPts val="4198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Plan</a:t>
            </a:r>
            <a:endParaRPr b="0" lang="en-US" sz="2200" spc="-1" strike="noStrike">
              <a:latin typeface="Noto Sans CJK KR"/>
            </a:endParaRPr>
          </a:p>
          <a:p>
            <a:pPr>
              <a:lnSpc>
                <a:spcPts val="4198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RoxboroughCF"/>
                <a:ea typeface="RoxboroughCF"/>
              </a:rPr>
              <a:t>DRR : RGB Camera = CT : 3DGS</a:t>
            </a:r>
            <a:endParaRPr b="0" lang="en-US" sz="2200" spc="-1" strike="noStrike">
              <a:latin typeface="Noto Sans CJK KR"/>
            </a:endParaRPr>
          </a:p>
          <a:p>
            <a:pPr>
              <a:lnSpc>
                <a:spcPts val="4198"/>
              </a:lnSpc>
              <a:buNone/>
            </a:pPr>
            <a:endParaRPr b="0" lang="en-US" sz="1800" spc="-1" strike="noStrike">
              <a:latin typeface="Noto Sans CJK KR"/>
            </a:endParaRPr>
          </a:p>
        </p:txBody>
      </p:sp>
      <p:pic>
        <p:nvPicPr>
          <p:cNvPr id="124" name="" descr=""/>
          <p:cNvPicPr/>
          <p:nvPr/>
        </p:nvPicPr>
        <p:blipFill>
          <a:blip r:embed="rId1"/>
          <a:stretch/>
        </p:blipFill>
        <p:spPr>
          <a:xfrm>
            <a:off x="10390320" y="720000"/>
            <a:ext cx="7249680" cy="8341200"/>
          </a:xfrm>
          <a:prstGeom prst="rect">
            <a:avLst/>
          </a:prstGeom>
          <a:ln w="0">
            <a:noFill/>
          </a:ln>
        </p:spPr>
      </p:pic>
      <p:pic>
        <p:nvPicPr>
          <p:cNvPr id="125" name="" descr=""/>
          <p:cNvPicPr/>
          <p:nvPr/>
        </p:nvPicPr>
        <p:blipFill>
          <a:blip r:embed="rId2"/>
          <a:stretch/>
        </p:blipFill>
        <p:spPr>
          <a:xfrm>
            <a:off x="990000" y="3960000"/>
            <a:ext cx="8370000" cy="558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DAG7urebNgA</dc:identifier>
  <dc:language>ko-KR</dc:language>
  <cp:lastModifiedBy/>
  <dcterms:modified xsi:type="dcterms:W3CDTF">2026-01-07T13:58:38Z</dcterms:modified>
  <cp:revision>8</cp:revision>
  <dc:subject/>
  <dc:title>3DGS 리뷰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